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f27ad86-7875-9434-80d0-068c9b3d1e71}">
          <p14:sldIdLst>
            <p14:sldId id="256"/>
            <p14:sldId id="257"/>
            <p14:sldId id="258"/>
          </p14:sldIdLst>
        </p14:section>
        <p14:section name="Email 1 — Microsoft account suspension" id="{aef4ea68-98f5-015b-acae-96b6ee894857}">
          <p14:sldIdLst>
            <p14:sldId id="259"/>
            <p14:sldId id="260"/>
          </p14:sldIdLst>
        </p14:section>
        <p14:section name="Email 2 — Supplier invoice redirection" id="{ff81c416-dd14-d65d-8b39-085fd0e67181}">
          <p14:sldIdLst>
            <p14:sldId id="261"/>
            <p14:sldId id="262"/>
          </p14:sldIdLst>
        </p14:section>
        <p14:section name="Email 4 — DHL failed delivery" id="{cf21ab50-d7d3-c226-6eb0-dc9a397a6ed5}">
          <p14:sldIdLst>
            <p14:sldId id="263"/>
            <p14:sldId id="264"/>
          </p14:sldIdLst>
        </p14:section>
        <p14:section name="Email 5 — Bank of America password reset" id="{1ecb2434-3be6-6196-a4e7-0ce7fe9cef85}">
          <p14:sldIdLst>
            <p14:sldId id="265"/>
            <p14:sldId id="266"/>
          </p14:sldIdLst>
        </p14:section>
        <p14:section name="Cross-case assessment" id="{d48b8000-9d98-3a73-38b9-54be92bea92c}">
          <p14:sldIdLst>
            <p14:sldId id="267"/>
            <p14:sldId id="268"/>
          </p14:sldIdLst>
        </p14:section>
        <p14:section name="Next steps" id="{0e955dfa-bed6-d895-70f7-91ccf5d270dd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summary: four suspicious emails analysed statically. All warrant high-priority investigation; none show confirmed credential theft, fraudulent payment or malware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86868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Part A — Desk-Based Email Threat Analysis  |  Review date: 26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Desk-Based Email Threat Analysis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Consolidated SOC investigation of four suspicious emails — Part 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692640" y="2286000"/>
            <a:ext cx="1737360" cy="1737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720340"/>
            <a:ext cx="868680" cy="868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120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Review date: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26 October 2026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Method: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Static, desk-based analysis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Classification: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Suspected phishing and social engineering; no confirmed compromise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Four emails, four lures — all high priority</a:t>
            </a:r>
            <a:endParaRPr lang="en-US" sz="3400" dirty="0"/>
          </a:p>
        </p:txBody>
      </p:sp>
      <p:sp>
        <p:nvSpPr>
          <p:cNvPr id="4" name="case-card-1"/>
          <p:cNvSpPr/>
          <p:nvPr/>
        </p:nvSpPr>
        <p:spPr>
          <a:xfrm>
            <a:off x="548640" y="1371600"/>
            <a:ext cx="2606040" cy="34290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560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EMAIL 1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85292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account suspension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Credential harvesting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069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Claimed sender IP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185.220.101.47</a:t>
            </a:r>
            <a:endParaRPr lang="en-US" sz="1400" dirty="0"/>
          </a:p>
        </p:txBody>
      </p:sp>
      <p:sp>
        <p:nvSpPr>
          <p:cNvPr id="11" name="case-card-2"/>
          <p:cNvSpPr/>
          <p:nvPr/>
        </p:nvSpPr>
        <p:spPr>
          <a:xfrm>
            <a:off x="3383280" y="1371600"/>
            <a:ext cx="2606040" cy="34290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3657600" y="16459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8288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57600" y="2560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EMAIL 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657600" y="285292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invoice redirection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3657600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Business Email Compromise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657600" y="4069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Claimed sender IP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194.165.16.101</a:t>
            </a:r>
            <a:endParaRPr lang="en-US" sz="1400" dirty="0"/>
          </a:p>
        </p:txBody>
      </p:sp>
      <p:sp>
        <p:nvSpPr>
          <p:cNvPr id="18" name="case-card-3"/>
          <p:cNvSpPr/>
          <p:nvPr/>
        </p:nvSpPr>
        <p:spPr>
          <a:xfrm>
            <a:off x="6217920" y="1371600"/>
            <a:ext cx="2606040" cy="34290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16459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288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92240" y="2560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EMAIL 4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492240" y="285292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DHL failed delivery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Delivery and payment phishing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6492240" y="4069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Claimed sender IP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176.111.174.55</a:t>
            </a:r>
            <a:endParaRPr lang="en-US" sz="1400" dirty="0"/>
          </a:p>
        </p:txBody>
      </p:sp>
      <p:sp>
        <p:nvSpPr>
          <p:cNvPr id="25" name="case-card-4"/>
          <p:cNvSpPr/>
          <p:nvPr/>
        </p:nvSpPr>
        <p:spPr>
          <a:xfrm>
            <a:off x="9052560" y="1371600"/>
            <a:ext cx="2606040" cy="34290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26" name="Shape 20"/>
          <p:cNvSpPr/>
          <p:nvPr/>
        </p:nvSpPr>
        <p:spPr>
          <a:xfrm>
            <a:off x="9326880" y="16459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182880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326880" y="25603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EMAIL 5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9326880" y="285292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of America password reset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9326880" y="35661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Banking credential harvesting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9326880" y="40690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Claimed sender IP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91.108.56.122</a:t>
            </a:r>
            <a:endParaRPr lang="en-US" sz="1400" dirty="0"/>
          </a:p>
        </p:txBody>
      </p:sp>
      <p:sp>
        <p:nvSpPr>
          <p:cNvPr id="32" name="assessment-card"/>
          <p:cNvSpPr/>
          <p:nvPr/>
        </p:nvSpPr>
        <p:spPr>
          <a:xfrm>
            <a:off x="548640" y="5074920"/>
            <a:ext cx="111099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822960" y="50749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Overall assessment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All four emails warrant high-priority investigation. Common signs: mismatched sender domains, suspicious URLs, urgency and reported authentication failures — but there is no evidence of credential theft, fraudulent payment or malware execution.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the investigation was conducted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Email header analysis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71907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From, Return-Path, Reply-To, Message-ID, Received and authentication headers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2503170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Social-engineering assessment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26791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actions recipients were pushed to take, and the pressure used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329184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46329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291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Indicator extraction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36393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Public IPs, suspicious domains, defanged URLs and declared attachment names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42519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442341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251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Static attachment assessment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1463040" y="45994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MIME declarations reviewed; nothing executed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48640" y="52120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5383530"/>
            <a:ext cx="342900" cy="3429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5212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Evidence validation</a:t>
            </a:r>
            <a:endParaRPr lang="en-US" sz="1700" dirty="0"/>
          </a:p>
        </p:txBody>
      </p:sp>
      <p:sp>
        <p:nvSpPr>
          <p:cNvPr id="22" name="Text 15"/>
          <p:cNvSpPr txBox="1"/>
          <p:nvPr/>
        </p:nvSpPr>
        <p:spPr>
          <a:xfrm>
            <a:off x="1463040" y="55595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Claims inside an email kept apart from independently confirmed findings</a:t>
            </a:r>
            <a:endParaRPr lang="en-US" sz="1400" dirty="0"/>
          </a:p>
        </p:txBody>
      </p:sp>
      <p:sp>
        <p:nvSpPr>
          <p:cNvPr id="23" name="sources-card"/>
          <p:cNvSpPr/>
          <p:nvPr/>
        </p:nvSpPr>
        <p:spPr>
          <a:xfrm>
            <a:off x="7040880" y="1371600"/>
            <a:ext cx="46177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31520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EVIDENCE SOURCES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7315200" y="19659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microsoft-harvest_analysis.txt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Bec_Fake analysing.txt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SHIPPING_Analysis.txt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BankPw_Analysis.txt</a:t>
            </a:r>
            <a:endParaRPr lang="en-US" sz="1400" dirty="0"/>
          </a:p>
        </p:txBody>
      </p:sp>
      <p:sp>
        <p:nvSpPr>
          <p:cNvPr id="26" name="limitation-card"/>
          <p:cNvSpPr/>
          <p:nvPr/>
        </p:nvSpPr>
        <p:spPr>
          <a:xfrm>
            <a:off x="7040880" y="3794760"/>
            <a:ext cx="461772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731520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3"/>
                </a:solidFill>
              </a:rPr>
              <a:t>KEY LIMITATION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0" y="438912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Headers can be forged. SPF, DKIM and DMARC results found in untrusted text are treated as reported claims. A DMARC policy (p=reject / p=quarantine) does not show what the gateway actually did with a message.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Email 1: Microsoft account suspension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29184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chemeClr val="bg1"/>
                </a:solidFill>
              </a:rPr>
              <a:t>CREDENTIAL HARVESTING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THE LURE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Claims the recipient's Microsoft account was suspended after suspicious sign-in activity, and demands verification through a Microsoft-branded link.</a:t>
            </a:r>
            <a:endParaRPr lang="en-US" sz="1600" dirty="0"/>
          </a:p>
        </p:txBody>
      </p:sp>
      <p:sp>
        <p:nvSpPr>
          <p:cNvPr id="6" name="stat-card"/>
          <p:cNvSpPr/>
          <p:nvPr/>
        </p:nvSpPr>
        <p:spPr>
          <a:xfrm>
            <a:off x="548640" y="3474720"/>
            <a:ext cx="51206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611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hrs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988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 verify, or face permanent deletion of email, OneDrive files and the Microsoft 365 subscription</a:t>
            </a:r>
            <a:endParaRPr lang="en-US" sz="1400" dirty="0"/>
          </a:p>
        </p:txBody>
      </p:sp>
      <p:sp>
        <p:nvSpPr>
          <p:cNvPr id="9" name="note-card"/>
          <p:cNvSpPr/>
          <p:nvPr/>
        </p:nvSpPr>
        <p:spPr>
          <a:xfrm>
            <a:off x="548640" y="53949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BF1D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0527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53949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body cites sign-in activity on "Monday, 14 April 2026" — that date was a Tuesday, casting doubt on the metadata.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HEADER EVIDENCE (AS SUPPLIED)</a:t>
            </a:r>
            <a:endParaRPr lang="en-US" sz="1200" dirty="0"/>
          </a:p>
        </p:txBody>
      </p:sp>
      <p:sp>
        <p:nvSpPr>
          <p:cNvPr id="13" name="header-row-1"/>
          <p:cNvSpPr/>
          <p:nvPr/>
        </p:nvSpPr>
        <p:spPr>
          <a:xfrm>
            <a:off x="6126480" y="2103120"/>
            <a:ext cx="553212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63640" y="21031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Claimed identity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2103120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microsoft.com (auth text)</a:t>
            </a:r>
            <a:endParaRPr lang="en-US" sz="1200" dirty="0"/>
          </a:p>
        </p:txBody>
      </p:sp>
      <p:sp>
        <p:nvSpPr>
          <p:cNvPr id="16" name="header-row-2"/>
          <p:cNvSpPr/>
          <p:nvPr/>
        </p:nvSpPr>
        <p:spPr>
          <a:xfrm>
            <a:off x="6126480" y="2578608"/>
            <a:ext cx="5532120" cy="43891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3640" y="25786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SMTP MAIL FROM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2578608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noreply@mailer-srv-dispatch.xyz</a:t>
            </a:r>
            <a:endParaRPr lang="en-US" sz="1200" dirty="0"/>
          </a:p>
        </p:txBody>
      </p:sp>
      <p:sp>
        <p:nvSpPr>
          <p:cNvPr id="19" name="header-row-3"/>
          <p:cNvSpPr/>
          <p:nvPr/>
        </p:nvSpPr>
        <p:spPr>
          <a:xfrm>
            <a:off x="6126480" y="3054096"/>
            <a:ext cx="553212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3640" y="305409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Message-ID domain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305409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mailer-srv-dispatch.xyz</a:t>
            </a:r>
            <a:endParaRPr lang="en-US" sz="1200" dirty="0"/>
          </a:p>
        </p:txBody>
      </p:sp>
      <p:sp>
        <p:nvSpPr>
          <p:cNvPr id="22" name="header-row-4"/>
          <p:cNvSpPr/>
          <p:nvPr/>
        </p:nvSpPr>
        <p:spPr>
          <a:xfrm>
            <a:off x="6126480" y="3529584"/>
            <a:ext cx="5532120" cy="43891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63640" y="35295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Claimed sending IP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3529584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185.220.101.47</a:t>
            </a:r>
            <a:endParaRPr lang="en-US" sz="1200" dirty="0"/>
          </a:p>
        </p:txBody>
      </p:sp>
      <p:sp>
        <p:nvSpPr>
          <p:cNvPr id="25" name="header-row-5"/>
          <p:cNvSpPr/>
          <p:nvPr/>
        </p:nvSpPr>
        <p:spPr>
          <a:xfrm>
            <a:off x="6126480" y="4005072"/>
            <a:ext cx="553212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263640" y="40050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Claimed route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955280" y="4005072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185.220.101.47 → 10.114.72.133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12648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EMAIL AUTHENTICATION (REPORTED)</a:t>
            </a:r>
            <a:endParaRPr lang="en-US" sz="1200" dirty="0"/>
          </a:p>
        </p:txBody>
      </p:sp>
      <p:sp>
        <p:nvSpPr>
          <p:cNvPr id="29" name="auth-SPF"/>
          <p:cNvSpPr/>
          <p:nvPr/>
        </p:nvSpPr>
        <p:spPr>
          <a:xfrm>
            <a:off x="6126480" y="4937760"/>
            <a:ext cx="1764792" cy="1051560"/>
          </a:xfrm>
          <a:prstGeom prst="roundRect">
            <a:avLst>
              <a:gd name="adj" fmla="val 6957"/>
            </a:avLst>
          </a:prstGeom>
          <a:solidFill>
            <a:srgbClr val="FBE4D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263640" y="50292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SPF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263640" y="534924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</a:t>
            </a:r>
            <a:endParaRPr lang="en-US" sz="1200" dirty="0"/>
          </a:p>
        </p:txBody>
      </p:sp>
      <p:sp>
        <p:nvSpPr>
          <p:cNvPr id="32" name="auth-DKIM"/>
          <p:cNvSpPr/>
          <p:nvPr/>
        </p:nvSpPr>
        <p:spPr>
          <a:xfrm>
            <a:off x="8010144" y="4937760"/>
            <a:ext cx="1764792" cy="1051560"/>
          </a:xfrm>
          <a:prstGeom prst="roundRect">
            <a:avLst>
              <a:gd name="adj" fmla="val 6957"/>
            </a:avLst>
          </a:prstGeom>
          <a:solidFill>
            <a:srgbClr val="FBE4DD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147304" y="50292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DKIM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147304" y="534924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</a:t>
            </a:r>
            <a:endParaRPr lang="en-US" sz="1200" dirty="0"/>
          </a:p>
        </p:txBody>
      </p:sp>
      <p:sp>
        <p:nvSpPr>
          <p:cNvPr id="35" name="auth-DMARC"/>
          <p:cNvSpPr/>
          <p:nvPr/>
        </p:nvSpPr>
        <p:spPr>
          <a:xfrm>
            <a:off x="9893808" y="4937760"/>
            <a:ext cx="1764792" cy="1051560"/>
          </a:xfrm>
          <a:prstGeom prst="roundRect">
            <a:avLst>
              <a:gd name="adj" fmla="val 6957"/>
            </a:avLst>
          </a:prstGeom>
          <a:solidFill>
            <a:srgbClr val="FBE4D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030968" y="50292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DMARC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10030968" y="534924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 · p=REJECT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12648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None of these results were independently reproduced.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Email 1: warning signs and indicators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EVIDENCE-SUPPORTED WARNING SIGNS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6184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Brand impersonation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Claims to be Microsoft but links to an unrelated domain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5328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Suspicious sender infrastructure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834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Envelope domain differs from the Microsoft identity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4472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Urgency and fear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749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Permanent account deletion threatened within 24 hours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891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3616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Authentication failures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663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SPF, DKIM and DMARC all reported as failed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035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52760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Timestamp inconsistency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577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Claimed weekday does not match the calendar date</a:t>
            </a:r>
            <a:endParaRPr lang="en-US" sz="1400" dirty="0"/>
          </a:p>
        </p:txBody>
      </p:sp>
      <p:sp>
        <p:nvSpPr>
          <p:cNvPr id="19" name="ioc-card"/>
          <p:cNvSpPr/>
          <p:nvPr/>
        </p:nvSpPr>
        <p:spPr>
          <a:xfrm>
            <a:off x="6400800" y="1234440"/>
            <a:ext cx="5257800" cy="310896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INDICATORS OF COMPROMISE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185.220.101.47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Claimed sending IP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258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mailer-srv-dispatch[.]xyz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Apparent sending infrastructure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27340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login-microsoft365-verify[.]top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Suspected credential-harvesting domain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32095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91.108.56.122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Sign-in IP claimed in body — not SMTP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721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hxxps://login-microsoft365-verify[.]top/signin/recover?token=...&amp;ref=account_suspend</a:t>
            </a:r>
            <a:endParaRPr lang="en-US" sz="1100" dirty="0"/>
          </a:p>
        </p:txBody>
      </p:sp>
      <p:sp>
        <p:nvSpPr>
          <p:cNvPr id="26" name="attachment-card"/>
          <p:cNvSpPr/>
          <p:nvPr/>
        </p:nvSpPr>
        <p:spPr>
          <a:xfrm>
            <a:off x="6400800" y="4526280"/>
            <a:ext cx="5257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773168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086600" y="452628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account_verification.pdf declared (application/pdf), but no file bytes supplied — no hash, file-type, PDF object or URI checks possible.</a:t>
            </a:r>
            <a:endParaRPr lang="en-US" sz="1200" dirty="0"/>
          </a:p>
        </p:txBody>
      </p:sp>
      <p:sp>
        <p:nvSpPr>
          <p:cNvPr id="29" name="verdict-card"/>
          <p:cNvSpPr/>
          <p:nvPr/>
        </p:nvSpPr>
        <p:spPr>
          <a:xfrm>
            <a:off x="6400800" y="553212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BE4D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583680" y="5532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Verdict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High-confidence credential-phishing pattern. No credential theft or malicious attachment behaviour established.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Email 2: Supplier invoice redirection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29184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chemeClr val="bg1"/>
                </a:solidFill>
              </a:rPr>
              <a:t>BUSINESS EMAIL COMPROMISE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THE LURE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Poses as an invoice notice from Delta Supplies Corp and asks for payment to changed banking details. The goal: divert a genuine business payment to an attacker's account.</a:t>
            </a:r>
            <a:endParaRPr lang="en-US" sz="1600" dirty="0"/>
          </a:p>
        </p:txBody>
      </p:sp>
      <p:sp>
        <p:nvSpPr>
          <p:cNvPr id="6" name="stat-card"/>
          <p:cNvSpPr/>
          <p:nvPr/>
        </p:nvSpPr>
        <p:spPr>
          <a:xfrm>
            <a:off x="548640" y="3474720"/>
            <a:ext cx="51206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611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$47,250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988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invoice the attacker is trying to redirect — payment due 22 April 2026, marked URGENT</a:t>
            </a:r>
            <a:endParaRPr lang="en-US" sz="1400" dirty="0"/>
          </a:p>
        </p:txBody>
      </p:sp>
      <p:sp>
        <p:nvSpPr>
          <p:cNvPr id="9" name="note-card"/>
          <p:cNvSpPr/>
          <p:nvPr/>
        </p:nvSpPr>
        <p:spPr>
          <a:xfrm>
            <a:off x="548640" y="53949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BF1D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0527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53949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SPF failure references deltasupplies-corp.com while the Return-Path is fast-invoice-send.ru — original SMTP records are needed.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HEADER EVIDENCE (AS SUPPLIED)</a:t>
            </a:r>
            <a:endParaRPr lang="en-US" sz="1200" dirty="0"/>
          </a:p>
        </p:txBody>
      </p:sp>
      <p:sp>
        <p:nvSpPr>
          <p:cNvPr id="13" name="header-row-1"/>
          <p:cNvSpPr/>
          <p:nvPr/>
        </p:nvSpPr>
        <p:spPr>
          <a:xfrm>
            <a:off x="6126480" y="2103120"/>
            <a:ext cx="553212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63640" y="21031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Claimed identity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2103120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deltasupplies-corp.com (DMARC text)</a:t>
            </a:r>
            <a:endParaRPr lang="en-US" sz="1200" dirty="0"/>
          </a:p>
        </p:txBody>
      </p:sp>
      <p:sp>
        <p:nvSpPr>
          <p:cNvPr id="16" name="header-row-2"/>
          <p:cNvSpPr/>
          <p:nvPr/>
        </p:nvSpPr>
        <p:spPr>
          <a:xfrm>
            <a:off x="6126480" y="2578608"/>
            <a:ext cx="5532120" cy="43891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3640" y="25786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Return-Path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2578608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billing@fast-invoice-send.ru</a:t>
            </a:r>
            <a:endParaRPr lang="en-US" sz="1200" dirty="0"/>
          </a:p>
        </p:txBody>
      </p:sp>
      <p:sp>
        <p:nvSpPr>
          <p:cNvPr id="19" name="header-row-3"/>
          <p:cNvSpPr/>
          <p:nvPr/>
        </p:nvSpPr>
        <p:spPr>
          <a:xfrm>
            <a:off x="6126480" y="3054096"/>
            <a:ext cx="553212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3640" y="305409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Finance contact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305409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payments@fast-invoice-send.ru</a:t>
            </a:r>
            <a:endParaRPr lang="en-US" sz="1200" dirty="0"/>
          </a:p>
        </p:txBody>
      </p:sp>
      <p:sp>
        <p:nvSpPr>
          <p:cNvPr id="22" name="header-row-4"/>
          <p:cNvSpPr/>
          <p:nvPr/>
        </p:nvSpPr>
        <p:spPr>
          <a:xfrm>
            <a:off x="6126480" y="3529584"/>
            <a:ext cx="5532120" cy="43891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63640" y="35295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Claimed sending IP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3529584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194.165.16.101</a:t>
            </a:r>
            <a:endParaRPr lang="en-US" sz="1200" dirty="0"/>
          </a:p>
        </p:txBody>
      </p:sp>
      <p:sp>
        <p:nvSpPr>
          <p:cNvPr id="25" name="header-row-5"/>
          <p:cNvSpPr/>
          <p:nvPr/>
        </p:nvSpPr>
        <p:spPr>
          <a:xfrm>
            <a:off x="6126480" y="4005072"/>
            <a:ext cx="553212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263640" y="40050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Sending host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955280" y="4005072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smtp.fast-invoice-send.ru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12648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EMAIL AUTHENTICATION (REPORTED)</a:t>
            </a:r>
            <a:endParaRPr lang="en-US" sz="1200" dirty="0"/>
          </a:p>
        </p:txBody>
      </p:sp>
      <p:sp>
        <p:nvSpPr>
          <p:cNvPr id="29" name="auth-SPF"/>
          <p:cNvSpPr/>
          <p:nvPr/>
        </p:nvSpPr>
        <p:spPr>
          <a:xfrm>
            <a:off x="6126480" y="4937760"/>
            <a:ext cx="1764792" cy="1051560"/>
          </a:xfrm>
          <a:prstGeom prst="roundRect">
            <a:avLst>
              <a:gd name="adj" fmla="val 6957"/>
            </a:avLst>
          </a:prstGeom>
          <a:solidFill>
            <a:srgbClr val="FBE4D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263640" y="50292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SPF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263640" y="534924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</a:t>
            </a:r>
            <a:endParaRPr lang="en-US" sz="1200" dirty="0"/>
          </a:p>
        </p:txBody>
      </p:sp>
      <p:sp>
        <p:nvSpPr>
          <p:cNvPr id="32" name="auth-DKIM"/>
          <p:cNvSpPr/>
          <p:nvPr/>
        </p:nvSpPr>
        <p:spPr>
          <a:xfrm>
            <a:off x="8010144" y="4937760"/>
            <a:ext cx="1764792" cy="1051560"/>
          </a:xfrm>
          <a:prstGeom prst="roundRect">
            <a:avLst>
              <a:gd name="adj" fmla="val 6957"/>
            </a:avLst>
          </a:prstGeom>
          <a:solidFill>
            <a:srgbClr val="FBE4DD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147304" y="50292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DKIM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147304" y="534924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</a:t>
            </a:r>
            <a:endParaRPr lang="en-US" sz="1200" dirty="0"/>
          </a:p>
        </p:txBody>
      </p:sp>
      <p:sp>
        <p:nvSpPr>
          <p:cNvPr id="35" name="auth-DMARC"/>
          <p:cNvSpPr/>
          <p:nvPr/>
        </p:nvSpPr>
        <p:spPr>
          <a:xfrm>
            <a:off x="9893808" y="4937760"/>
            <a:ext cx="1764792" cy="1051560"/>
          </a:xfrm>
          <a:prstGeom prst="roundRect">
            <a:avLst>
              <a:gd name="adj" fmla="val 6957"/>
            </a:avLst>
          </a:prstGeom>
          <a:solidFill>
            <a:srgbClr val="FBE4D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030968" y="50292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DMARC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10030968" y="534924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 · p=NONE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12648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None of these results were independently reproduced.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Email 2: warning signs and indicators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EVIDENCE-SUPPORTED WARNING SIGNS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6184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Sender-domain mismatch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Return-Path differs from the claimed supplier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5328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Urgent invoice subject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834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Payment deadline with an explicit URGENT label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4472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Alternative payment contact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749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Finance queries routed to a different domain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891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3616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Authentication failures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663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SPF, DKIM and DMARC shown as failed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035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52760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Bulk-mail script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577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invoice_blast.php in X-PHP-Originating-Script (not proof alone)</a:t>
            </a:r>
            <a:endParaRPr lang="en-US" sz="1400" dirty="0"/>
          </a:p>
        </p:txBody>
      </p:sp>
      <p:sp>
        <p:nvSpPr>
          <p:cNvPr id="19" name="ioc-card"/>
          <p:cNvSpPr/>
          <p:nvPr/>
        </p:nvSpPr>
        <p:spPr>
          <a:xfrm>
            <a:off x="6400800" y="1234440"/>
            <a:ext cx="5257800" cy="310896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INDICATORS OF COMPROMISE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194.165.16.101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Claimed SMTP origin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258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fast-invoice-send[.]ru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Envelope and finance-contact domain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27340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smtp.fast-invoice-send[.]ru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Claimed sending host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32095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deltasupplies-corp[.]com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Claimed supplier domain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721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URL present in the supplied text extract</a:t>
            </a:r>
            <a:endParaRPr lang="en-US" sz="1100" dirty="0"/>
          </a:p>
        </p:txBody>
      </p:sp>
      <p:sp>
        <p:nvSpPr>
          <p:cNvPr id="26" name="attachment-card"/>
          <p:cNvSpPr/>
          <p:nvPr/>
        </p:nvSpPr>
        <p:spPr>
          <a:xfrm>
            <a:off x="6400800" y="4526280"/>
            <a:ext cx="5257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773168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086600" y="452628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multipart/mixed declared, but no filename, MIME part or encoded bytes — decoding, hashing and file-signature checks not possible.</a:t>
            </a:r>
            <a:endParaRPr lang="en-US" sz="1200" dirty="0"/>
          </a:p>
        </p:txBody>
      </p:sp>
      <p:sp>
        <p:nvSpPr>
          <p:cNvPr id="29" name="verdict-card"/>
          <p:cNvSpPr/>
          <p:nvPr/>
        </p:nvSpPr>
        <p:spPr>
          <a:xfrm>
            <a:off x="6400800" y="553212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BE4D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583680" y="5532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Verdict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High-confidence suspected invoice-redirection attempt. No final bank account, completed payment or malicious attachment established.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Email 4: DHL failed delivery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29184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chemeClr val="bg1"/>
                </a:solidFill>
              </a:rPr>
              <a:t>DELIVERY AND PAYMENT PHISHING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THE LURE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Impersonates DHL Express, claims a parcel could not be delivered, and pushes the recipient to reschedule through a DHL-styled website.</a:t>
            </a:r>
            <a:endParaRPr lang="en-US" sz="1600" dirty="0"/>
          </a:p>
        </p:txBody>
      </p:sp>
      <p:sp>
        <p:nvSpPr>
          <p:cNvPr id="6" name="stat-card"/>
          <p:cNvSpPr/>
          <p:nvPr/>
        </p:nvSpPr>
        <p:spPr>
          <a:xfrm>
            <a:off x="548640" y="3474720"/>
            <a:ext cx="51206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611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$2.99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988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redelivery fee embedded in the link — a payment pretext to harvest personal or card details</a:t>
            </a:r>
            <a:endParaRPr lang="en-US" sz="1400" dirty="0"/>
          </a:p>
        </p:txBody>
      </p:sp>
      <p:sp>
        <p:nvSpPr>
          <p:cNvPr id="9" name="note-card"/>
          <p:cNvSpPr/>
          <p:nvPr/>
        </p:nvSpPr>
        <p:spPr>
          <a:xfrm>
            <a:off x="548640" y="53949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BF1D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0527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53949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Private host 172.16.88.9 is also referenced upstream. The route has not been independently verified.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HEADER EVIDENCE (AS SUPPLIED)</a:t>
            </a:r>
            <a:endParaRPr lang="en-US" sz="1200" dirty="0"/>
          </a:p>
        </p:txBody>
      </p:sp>
      <p:sp>
        <p:nvSpPr>
          <p:cNvPr id="13" name="header-row-1"/>
          <p:cNvSpPr/>
          <p:nvPr/>
        </p:nvSpPr>
        <p:spPr>
          <a:xfrm>
            <a:off x="6126480" y="2103120"/>
            <a:ext cx="553212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63640" y="21031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Claimed identity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2103120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dhl.com (DMARC text)</a:t>
            </a:r>
            <a:endParaRPr lang="en-US" sz="1200" dirty="0"/>
          </a:p>
        </p:txBody>
      </p:sp>
      <p:sp>
        <p:nvSpPr>
          <p:cNvPr id="16" name="header-row-2"/>
          <p:cNvSpPr/>
          <p:nvPr/>
        </p:nvSpPr>
        <p:spPr>
          <a:xfrm>
            <a:off x="6126480" y="2578608"/>
            <a:ext cx="5532120" cy="43891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3640" y="25786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Return-Path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2578608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tracking@dhl-delivery-info.xyz</a:t>
            </a:r>
            <a:endParaRPr lang="en-US" sz="1200" dirty="0"/>
          </a:p>
        </p:txBody>
      </p:sp>
      <p:sp>
        <p:nvSpPr>
          <p:cNvPr id="19" name="header-row-3"/>
          <p:cNvSpPr/>
          <p:nvPr/>
        </p:nvSpPr>
        <p:spPr>
          <a:xfrm>
            <a:off x="6126480" y="3054096"/>
            <a:ext cx="553212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3640" y="305409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Message-ID domain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305409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dhl-delivery-info.xyz</a:t>
            </a:r>
            <a:endParaRPr lang="en-US" sz="1200" dirty="0"/>
          </a:p>
        </p:txBody>
      </p:sp>
      <p:sp>
        <p:nvSpPr>
          <p:cNvPr id="22" name="header-row-4"/>
          <p:cNvSpPr/>
          <p:nvPr/>
        </p:nvSpPr>
        <p:spPr>
          <a:xfrm>
            <a:off x="6126480" y="3529584"/>
            <a:ext cx="5532120" cy="43891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63640" y="35295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Claimed external IP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3529584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176.111.174.55</a:t>
            </a:r>
            <a:endParaRPr lang="en-US" sz="1200" dirty="0"/>
          </a:p>
        </p:txBody>
      </p:sp>
      <p:sp>
        <p:nvSpPr>
          <p:cNvPr id="25" name="header-row-5"/>
          <p:cNvSpPr/>
          <p:nvPr/>
        </p:nvSpPr>
        <p:spPr>
          <a:xfrm>
            <a:off x="6126480" y="4005072"/>
            <a:ext cx="553212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263640" y="40050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Claimed route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955280" y="4005072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176.111.174.33 → .55 → 10.114.72.201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12648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EMAIL AUTHENTICATION (REPORTED)</a:t>
            </a:r>
            <a:endParaRPr lang="en-US" sz="1200" dirty="0"/>
          </a:p>
        </p:txBody>
      </p:sp>
      <p:sp>
        <p:nvSpPr>
          <p:cNvPr id="29" name="auth-SPF"/>
          <p:cNvSpPr/>
          <p:nvPr/>
        </p:nvSpPr>
        <p:spPr>
          <a:xfrm>
            <a:off x="6126480" y="4937760"/>
            <a:ext cx="1764792" cy="1051560"/>
          </a:xfrm>
          <a:prstGeom prst="roundRect">
            <a:avLst>
              <a:gd name="adj" fmla="val 6957"/>
            </a:avLst>
          </a:prstGeom>
          <a:solidFill>
            <a:srgbClr val="FBE4D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263640" y="50292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SPF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263640" y="534924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</a:t>
            </a:r>
            <a:endParaRPr lang="en-US" sz="1200" dirty="0"/>
          </a:p>
        </p:txBody>
      </p:sp>
      <p:sp>
        <p:nvSpPr>
          <p:cNvPr id="32" name="auth-DKIM"/>
          <p:cNvSpPr/>
          <p:nvPr/>
        </p:nvSpPr>
        <p:spPr>
          <a:xfrm>
            <a:off x="8010144" y="4937760"/>
            <a:ext cx="1764792" cy="1051560"/>
          </a:xfrm>
          <a:prstGeom prst="roundRect">
            <a:avLst>
              <a:gd name="adj" fmla="val 6957"/>
            </a:avLst>
          </a:prstGeom>
          <a:solidFill>
            <a:srgbClr val="FBE4DD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147304" y="50292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DKIM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147304" y="534924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 · no DNS key</a:t>
            </a:r>
            <a:endParaRPr lang="en-US" sz="1200" dirty="0"/>
          </a:p>
        </p:txBody>
      </p:sp>
      <p:sp>
        <p:nvSpPr>
          <p:cNvPr id="35" name="auth-DMARC"/>
          <p:cNvSpPr/>
          <p:nvPr/>
        </p:nvSpPr>
        <p:spPr>
          <a:xfrm>
            <a:off x="9893808" y="4937760"/>
            <a:ext cx="1764792" cy="1051560"/>
          </a:xfrm>
          <a:prstGeom prst="roundRect">
            <a:avLst>
              <a:gd name="adj" fmla="val 6957"/>
            </a:avLst>
          </a:prstGeom>
          <a:solidFill>
            <a:srgbClr val="FBE4D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030968" y="50292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DMARC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10030968" y="534924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 · p=QUARANTINE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12648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None of these results were independently reproduced.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Email 4: warning signs and indicators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EVIDENCE-SUPPORTED WARNING SIGNS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6184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DHL impersonation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Claims DHL while sending from dhl-delivery-info.xyz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5328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Suspicious rescheduling link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8346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Destination sits outside the claimed DHL domain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4472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Payment pretext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749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URL carries a fee value of 2.99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891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3616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Generic greeting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663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Addressed to "Dear DHL Customer"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035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52760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Authentication failures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577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SPF, DKIM and DMARC shown as failed</a:t>
            </a:r>
            <a:endParaRPr lang="en-US" sz="1400" dirty="0"/>
          </a:p>
        </p:txBody>
      </p:sp>
      <p:sp>
        <p:nvSpPr>
          <p:cNvPr id="19" name="ioc-card"/>
          <p:cNvSpPr/>
          <p:nvPr/>
        </p:nvSpPr>
        <p:spPr>
          <a:xfrm>
            <a:off x="6400800" y="1234440"/>
            <a:ext cx="5257800" cy="310896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INDICATORS OF COMPROMISE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176.111.174.55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Claimed external SMTP peer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258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176.111.174.33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Claimed earlier SMTP relay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27340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dhl-delivery-info[.]xyz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Apparent phishing domain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32095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172.16.88.9 · 10.114.72.201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Private upstream / receiving hops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3721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hxxps://dhl-delivery-info[.]xyz/reschedule?track=1928374650&amp;ref=TCORP04&amp;fee=2.99</a:t>
            </a:r>
            <a:endParaRPr lang="en-US" sz="1100" dirty="0"/>
          </a:p>
        </p:txBody>
      </p:sp>
      <p:sp>
        <p:nvSpPr>
          <p:cNvPr id="26" name="attachment-card"/>
          <p:cNvSpPr/>
          <p:nvPr/>
        </p:nvSpPr>
        <p:spPr>
          <a:xfrm>
            <a:off x="6400800" y="4526280"/>
            <a:ext cx="5257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773168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7086600" y="452628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ZIP attachment is implied, but no archive bytes or member listing were supplied — contents, hash and integrity unknown.</a:t>
            </a:r>
            <a:endParaRPr lang="en-US" sz="1200" dirty="0"/>
          </a:p>
        </p:txBody>
      </p:sp>
      <p:sp>
        <p:nvSpPr>
          <p:cNvPr id="29" name="verdict-card"/>
          <p:cNvSpPr/>
          <p:nvPr/>
        </p:nvSpPr>
        <p:spPr>
          <a:xfrm>
            <a:off x="6400800" y="553212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BE4D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583680" y="5532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Verdict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High-confidence delivery-phishing pattern with a payment pretext. No payment theft or working malicious attachment confirmed.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Email 5: Bank of America password reset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29184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chemeClr val="bg1"/>
                </a:solidFill>
              </a:rPr>
              <a:t>BANKING CREDENTIAL HARVESTING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THE LURE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Claims to come from Bank of America's Security Center, warns of unusual account activity and demands an immediate password reset.</a:t>
            </a:r>
            <a:endParaRPr lang="en-US" sz="1600" dirty="0"/>
          </a:p>
        </p:txBody>
      </p:sp>
      <p:sp>
        <p:nvSpPr>
          <p:cNvPr id="6" name="stat-card"/>
          <p:cNvSpPr/>
          <p:nvPr/>
        </p:nvSpPr>
        <p:spPr>
          <a:xfrm>
            <a:off x="548640" y="3474720"/>
            <a:ext cx="51206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611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hrs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988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 act, or face continued account restrictions and an "automatic fraud investigation"</a:t>
            </a:r>
            <a:endParaRPr lang="en-US" sz="1400" dirty="0"/>
          </a:p>
        </p:txBody>
      </p:sp>
      <p:sp>
        <p:nvSpPr>
          <p:cNvPr id="9" name="note-card"/>
          <p:cNvSpPr/>
          <p:nvPr/>
        </p:nvSpPr>
        <p:spPr>
          <a:xfrm>
            <a:off x="548640" y="53949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BF1D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05272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539496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Message-ID time 20260418143110 vs receiving ID 2026.04.18.07.31.18 — time zones unavailable to reconcile.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HEADER EVIDENCE (AS SUPPLIED)</a:t>
            </a:r>
            <a:endParaRPr lang="en-US" sz="1200" dirty="0"/>
          </a:p>
        </p:txBody>
      </p:sp>
      <p:sp>
        <p:nvSpPr>
          <p:cNvPr id="13" name="header-row-1"/>
          <p:cNvSpPr/>
          <p:nvPr/>
        </p:nvSpPr>
        <p:spPr>
          <a:xfrm>
            <a:off x="6126480" y="2103120"/>
            <a:ext cx="553212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63640" y="21031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Claimed identity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955280" y="2103120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bankofamerica.com (DKIM claim)</a:t>
            </a:r>
            <a:endParaRPr lang="en-US" sz="1200" dirty="0"/>
          </a:p>
        </p:txBody>
      </p:sp>
      <p:sp>
        <p:nvSpPr>
          <p:cNvPr id="16" name="header-row-2"/>
          <p:cNvSpPr/>
          <p:nvPr/>
        </p:nvSpPr>
        <p:spPr>
          <a:xfrm>
            <a:off x="6126480" y="2578608"/>
            <a:ext cx="5532120" cy="43891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263640" y="25786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Return-Path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955280" y="2578608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noreply@secure-boa-alerts.cc</a:t>
            </a:r>
            <a:endParaRPr lang="en-US" sz="1200" dirty="0"/>
          </a:p>
        </p:txBody>
      </p:sp>
      <p:sp>
        <p:nvSpPr>
          <p:cNvPr id="19" name="header-row-3"/>
          <p:cNvSpPr/>
          <p:nvPr/>
        </p:nvSpPr>
        <p:spPr>
          <a:xfrm>
            <a:off x="6126480" y="3054096"/>
            <a:ext cx="553212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3640" y="305409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Message-ID domain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305409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secure-boa-alerts.cc</a:t>
            </a:r>
            <a:endParaRPr lang="en-US" sz="1200" dirty="0"/>
          </a:p>
        </p:txBody>
      </p:sp>
      <p:sp>
        <p:nvSpPr>
          <p:cNvPr id="22" name="header-row-4"/>
          <p:cNvSpPr/>
          <p:nvPr/>
        </p:nvSpPr>
        <p:spPr>
          <a:xfrm>
            <a:off x="6126480" y="3529584"/>
            <a:ext cx="5532120" cy="43891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63640" y="35295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Claimed sending IP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3529584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91.108.56.122</a:t>
            </a:r>
            <a:endParaRPr lang="en-US" sz="1200" dirty="0"/>
          </a:p>
        </p:txBody>
      </p:sp>
      <p:sp>
        <p:nvSpPr>
          <p:cNvPr id="25" name="header-row-5"/>
          <p:cNvSpPr/>
          <p:nvPr/>
        </p:nvSpPr>
        <p:spPr>
          <a:xfrm>
            <a:off x="6126480" y="4005072"/>
            <a:ext cx="5532120" cy="43891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263640" y="40050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Claimed route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955280" y="4005072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91.108.56.99 → .122 → mx.google.com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12648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EMAIL AUTHENTICATION (REPORTED)</a:t>
            </a:r>
            <a:endParaRPr lang="en-US" sz="1200" dirty="0"/>
          </a:p>
        </p:txBody>
      </p:sp>
      <p:sp>
        <p:nvSpPr>
          <p:cNvPr id="29" name="auth-SPF"/>
          <p:cNvSpPr/>
          <p:nvPr/>
        </p:nvSpPr>
        <p:spPr>
          <a:xfrm>
            <a:off x="6126480" y="4937760"/>
            <a:ext cx="1764792" cy="1051560"/>
          </a:xfrm>
          <a:prstGeom prst="roundRect">
            <a:avLst>
              <a:gd name="adj" fmla="val 6957"/>
            </a:avLst>
          </a:prstGeom>
          <a:solidFill>
            <a:srgbClr val="FBE4D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263640" y="50292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SPF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263640" y="534924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 (claimed)</a:t>
            </a:r>
            <a:endParaRPr lang="en-US" sz="1200" dirty="0"/>
          </a:p>
        </p:txBody>
      </p:sp>
      <p:sp>
        <p:nvSpPr>
          <p:cNvPr id="32" name="auth-DKIM"/>
          <p:cNvSpPr/>
          <p:nvPr/>
        </p:nvSpPr>
        <p:spPr>
          <a:xfrm>
            <a:off x="8010144" y="4937760"/>
            <a:ext cx="1764792" cy="1051560"/>
          </a:xfrm>
          <a:prstGeom prst="roundRect">
            <a:avLst>
              <a:gd name="adj" fmla="val 6957"/>
            </a:avLst>
          </a:prstGeom>
          <a:solidFill>
            <a:srgbClr val="FBF1D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147304" y="50292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6F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DKIM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147304" y="534924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d=bankofamerica.com · unproven</a:t>
            </a:r>
            <a:endParaRPr lang="en-US" sz="1200" dirty="0"/>
          </a:p>
        </p:txBody>
      </p:sp>
      <p:sp>
        <p:nvSpPr>
          <p:cNvPr id="35" name="auth-DMARC"/>
          <p:cNvSpPr/>
          <p:nvPr/>
        </p:nvSpPr>
        <p:spPr>
          <a:xfrm>
            <a:off x="9893808" y="4937760"/>
            <a:ext cx="1764792" cy="1051560"/>
          </a:xfrm>
          <a:prstGeom prst="roundRect">
            <a:avLst>
              <a:gd name="adj" fmla="val 6957"/>
            </a:avLst>
          </a:prstGeom>
          <a:solidFill>
            <a:srgbClr val="FBF1DE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030968" y="502920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6F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DMARC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10030968" y="5349240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result supplied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12648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None of these results were independently reproduced.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Email 5: warning signs and indicators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4"/>
                </a:solidFill>
              </a:rPr>
              <a:t>EVIDENCE-SUPPORTED WARNING SIGNS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61848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Bank impersonation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Bank branding, but links to an unrelated domain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32304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404872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Suspicious reset URL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7066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Verification path hosted on secure-boa-alerts.cc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18688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191256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Urgency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4930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 12-hour deadline to act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05072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977640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Financial threats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2793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Restricted access and a fraud investigation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91456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764024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Generic greeting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0657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Addressed to "Dear Valued Customer"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411480" cy="41148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5550408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Unverified login claim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852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Asserts a Tor exit-node login with no supporting evidence</a:t>
            </a:r>
            <a:endParaRPr lang="en-US" sz="1400" dirty="0"/>
          </a:p>
        </p:txBody>
      </p:sp>
      <p:sp>
        <p:nvSpPr>
          <p:cNvPr id="22" name="ioc-card"/>
          <p:cNvSpPr/>
          <p:nvPr/>
        </p:nvSpPr>
        <p:spPr>
          <a:xfrm>
            <a:off x="6400800" y="1234440"/>
            <a:ext cx="5257800" cy="310896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7512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INDICATORS OF COMPROMISE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1783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91.108.56.122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Claimed external sending IP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2258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91.108.56.99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Claimed upstream SMTP host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27340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secure-boa-alerts[.]cc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Suspected phishing domain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32095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185.220.101.47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Login IP claimed in body — not SMTP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3721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hxxps://secure-boa-alerts[.]cc/online-banking/verify?cid=BOA-SEC-2026-119847&amp;restore=1</a:t>
            </a:r>
            <a:endParaRPr lang="en-US" sz="1100" dirty="0"/>
          </a:p>
        </p:txBody>
      </p:sp>
      <p:sp>
        <p:nvSpPr>
          <p:cNvPr id="29" name="attachment-card"/>
          <p:cNvSpPr/>
          <p:nvPr/>
        </p:nvSpPr>
        <p:spPr>
          <a:xfrm>
            <a:off x="6400800" y="4526280"/>
            <a:ext cx="52578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773168"/>
            <a:ext cx="365760" cy="36576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7086600" y="452628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Security_Notice_BOA-SEC-2026-119847.png declared (image/png), but no bytes — no hash, metadata, QR-code or payload checks possible.</a:t>
            </a:r>
            <a:endParaRPr lang="en-US" sz="1200" dirty="0"/>
          </a:p>
        </p:txBody>
      </p:sp>
      <p:sp>
        <p:nvSpPr>
          <p:cNvPr id="32" name="verdict-card"/>
          <p:cNvSpPr/>
          <p:nvPr/>
        </p:nvSpPr>
        <p:spPr>
          <a:xfrm>
            <a:off x="6400800" y="553212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BE4DD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583680" y="5532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Verdict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High-confidence banking credential-phishing attempt. Successful account compromise has not been demonstrated.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Different stories, the same playbook</a:t>
            </a:r>
            <a:endParaRPr lang="en-US" sz="3400" dirty="0"/>
          </a:p>
        </p:txBody>
      </p:sp>
      <p:sp>
        <p:nvSpPr>
          <p:cNvPr id="3" name="technique-1"/>
          <p:cNvSpPr/>
          <p:nvPr/>
        </p:nvSpPr>
        <p:spPr>
          <a:xfrm>
            <a:off x="548640" y="1371600"/>
            <a:ext cx="2606040" cy="29718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 impersonation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0156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Attackers pose as established organisations or trusted suppliers</a:t>
            </a:r>
            <a:endParaRPr lang="en-US" sz="1400" dirty="0"/>
          </a:p>
        </p:txBody>
      </p:sp>
      <p:sp>
        <p:nvSpPr>
          <p:cNvPr id="8" name="technique-2"/>
          <p:cNvSpPr/>
          <p:nvPr/>
        </p:nvSpPr>
        <p:spPr>
          <a:xfrm>
            <a:off x="3383280" y="1371600"/>
            <a:ext cx="2606040" cy="29718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0" y="16459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514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and pressure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40156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Deadlines, potential losses and restrictions discourage careful checking</a:t>
            </a:r>
            <a:endParaRPr lang="en-US" sz="1400" dirty="0"/>
          </a:p>
        </p:txBody>
      </p:sp>
      <p:sp>
        <p:nvSpPr>
          <p:cNvPr id="13" name="technique-3"/>
          <p:cNvSpPr/>
          <p:nvPr/>
        </p:nvSpPr>
        <p:spPr>
          <a:xfrm>
            <a:off x="6217920" y="1371600"/>
            <a:ext cx="2606040" cy="29718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6492240" y="16459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828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2514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manipulation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40156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Users are sent to domains that differ from the brand being impersonated</a:t>
            </a:r>
            <a:endParaRPr lang="en-US" sz="1400" dirty="0"/>
          </a:p>
        </p:txBody>
      </p:sp>
      <p:sp>
        <p:nvSpPr>
          <p:cNvPr id="18" name="technique-4"/>
          <p:cNvSpPr/>
          <p:nvPr/>
        </p:nvSpPr>
        <p:spPr>
          <a:xfrm>
            <a:off x="9052560" y="1371600"/>
            <a:ext cx="2606040" cy="29718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9326880" y="164592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18288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251460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or credential redirection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40156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Requested actions steer users towards fraudulent payment or disclosure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6177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Brand impersonation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Microsoft, Delta Supplies, DHL, Bank of America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4297680" y="46177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Domain mismatch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All four cases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046720" y="46177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Suspicious URLs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Microsoft, DHL and banking cases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4406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Authentication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Multiple reported failures; none reproduced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4297680" y="54406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Attachments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PDF and PNG declared; bytes unavailable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8046720" y="54406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Confirmed compromise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None established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the headers can — and cannot — prove</a:t>
            </a:r>
            <a:endParaRPr lang="en-US" sz="3400" dirty="0"/>
          </a:p>
        </p:txBody>
      </p:sp>
      <p:sp>
        <p:nvSpPr>
          <p:cNvPr id="3" name="limitation-1"/>
          <p:cNvSpPr/>
          <p:nvPr/>
        </p:nvSpPr>
        <p:spPr>
          <a:xfrm>
            <a:off x="548640" y="137160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9164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authentication failures are not validated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5146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The original emails and trusted receiving-gateway logs were not supplied.</a:t>
            </a:r>
            <a:endParaRPr lang="en-US" sz="1500" dirty="0"/>
          </a:p>
        </p:txBody>
      </p:sp>
      <p:sp>
        <p:nvSpPr>
          <p:cNvPr id="8" name="limitation-2"/>
          <p:cNvSpPr/>
          <p:nvPr/>
        </p:nvSpPr>
        <p:spPr>
          <a:xfrm>
            <a:off x="6172200" y="137160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6916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745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69164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IPs in Received headers are claims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251460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Record them as claimed infrastructure until verified.</a:t>
            </a:r>
            <a:endParaRPr lang="en-US" sz="1500" dirty="0"/>
          </a:p>
        </p:txBody>
      </p:sp>
      <p:sp>
        <p:nvSpPr>
          <p:cNvPr id="13" name="limitation-3"/>
          <p:cNvSpPr/>
          <p:nvPr/>
        </p:nvSpPr>
        <p:spPr>
          <a:xfrm>
            <a:off x="548640" y="374904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40690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2519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28800" y="406908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and loopback addresses are not senders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489204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10.x, 172.16.x and 127.0.0.1 cannot be publicly routable external systems.</a:t>
            </a:r>
            <a:endParaRPr lang="en-US" sz="1500" dirty="0"/>
          </a:p>
        </p:txBody>
      </p:sp>
      <p:sp>
        <p:nvSpPr>
          <p:cNvPr id="18" name="limitation-4"/>
          <p:cNvSpPr/>
          <p:nvPr/>
        </p:nvSpPr>
        <p:spPr>
          <a:xfrm>
            <a:off x="6172200" y="3749040"/>
            <a:ext cx="544068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40690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2519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2360" y="406908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IP in the email body is the attacker's claim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489204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 "suspicious login from…" address is not evidence of SMTP delivery.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Fourteen checks remain outstanding</a:t>
            </a:r>
            <a:endParaRPr lang="en-US" sz="3400" dirty="0"/>
          </a:p>
        </p:txBody>
      </p:sp>
      <p:sp>
        <p:nvSpPr>
          <p:cNvPr id="3" name="gap-1"/>
          <p:cNvSpPr/>
          <p:nvPr/>
        </p:nvSpPr>
        <p:spPr>
          <a:xfrm>
            <a:off x="548640" y="1371600"/>
            <a:ext cx="2103120" cy="3429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and headers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1783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Original .eml acquisition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Complete header verification</a:t>
            </a:r>
            <a:endParaRPr lang="en-US" sz="1300" dirty="0"/>
          </a:p>
        </p:txBody>
      </p:sp>
      <p:sp>
        <p:nvSpPr>
          <p:cNvPr id="7" name="gap-2"/>
          <p:cNvSpPr/>
          <p:nvPr/>
        </p:nvSpPr>
        <p:spPr>
          <a:xfrm>
            <a:off x="2788920" y="1371600"/>
            <a:ext cx="2103120" cy="3429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17520" y="15087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194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788920"/>
            <a:ext cx="1783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SPF verification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DKIM cryptographic validation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DMARC alignment and gateway disposition</a:t>
            </a:r>
            <a:endParaRPr lang="en-US" sz="1300" dirty="0"/>
          </a:p>
        </p:txBody>
      </p:sp>
      <p:sp>
        <p:nvSpPr>
          <p:cNvPr id="11" name="gap-3"/>
          <p:cNvSpPr/>
          <p:nvPr/>
        </p:nvSpPr>
        <p:spPr>
          <a:xfrm>
            <a:off x="5029200" y="1371600"/>
            <a:ext cx="2103120" cy="3429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57800" y="15087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194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788920"/>
            <a:ext cx="1783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Independent IP reputation lookups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Independent domain and URL reputation</a:t>
            </a:r>
            <a:endParaRPr lang="en-US" sz="1300" dirty="0"/>
          </a:p>
        </p:txBody>
      </p:sp>
      <p:sp>
        <p:nvSpPr>
          <p:cNvPr id="15" name="gap-4"/>
          <p:cNvSpPr/>
          <p:nvPr/>
        </p:nvSpPr>
        <p:spPr>
          <a:xfrm>
            <a:off x="7269480" y="1371600"/>
            <a:ext cx="2103120" cy="3429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0" y="15087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2194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Attachments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2788920"/>
            <a:ext cx="1783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Attachment decoding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SHA-256 hashes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PDF URI extraction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PNG metadata inspection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ZIP archive member analysis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Executable structure analysis</a:t>
            </a:r>
            <a:endParaRPr lang="en-US" sz="1300" dirty="0"/>
          </a:p>
        </p:txBody>
      </p:sp>
      <p:sp>
        <p:nvSpPr>
          <p:cNvPr id="19" name="gap-5"/>
          <p:cNvSpPr/>
          <p:nvPr/>
        </p:nvSpPr>
        <p:spPr>
          <a:xfrm>
            <a:off x="9509760" y="1371600"/>
            <a:ext cx="2103120" cy="34290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738360" y="15087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9738360" y="2194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exposure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788920"/>
            <a:ext cx="1783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accent4"/>
                </a:solidFill>
              </a:rPr>
              <a:t>User interaction and compromise confirmation</a:t>
            </a:r>
            <a:endParaRPr lang="en-US" sz="1300" dirty="0"/>
          </a:p>
        </p:txBody>
      </p:sp>
      <p:sp>
        <p:nvSpPr>
          <p:cNvPr id="23" name="next-phase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0292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Next phase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Preserve originals with documented acquisition, verify authentication against trusted infrastructure, run dated reputation lookups. Keep attachment analysis static unless dynamic testing is authorised.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Recommended SOC actions</a:t>
            </a:r>
            <a:endParaRPr lang="en-US" sz="3400" dirty="0"/>
          </a:p>
        </p:txBody>
      </p:sp>
      <p:sp>
        <p:nvSpPr>
          <p:cNvPr id="3" name="rec-1"/>
          <p:cNvSpPr/>
          <p:nvPr/>
        </p:nvSpPr>
        <p:spPr>
          <a:xfrm>
            <a:off x="548640" y="132588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4356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Preserve evidence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830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Obtain original .eml files, gateway logs and attachments; record timestamps and handling</a:t>
            </a:r>
            <a:endParaRPr lang="en-US" sz="1300" dirty="0"/>
          </a:p>
        </p:txBody>
      </p:sp>
      <p:sp>
        <p:nvSpPr>
          <p:cNvPr id="7" name="rec-2"/>
          <p:cNvSpPr/>
          <p:nvPr/>
        </p:nvSpPr>
        <p:spPr>
          <a:xfrm>
            <a:off x="6172200" y="132588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6002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4356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Validate authentication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7830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Check SPF, DKIM and DMARC against the originals and trusted mail infrastructure</a:t>
            </a:r>
            <a:endParaRPr lang="en-US" sz="1300" dirty="0"/>
          </a:p>
        </p:txBody>
      </p:sp>
      <p:sp>
        <p:nvSpPr>
          <p:cNvPr id="11" name="rec-3"/>
          <p:cNvSpPr/>
          <p:nvPr/>
        </p:nvSpPr>
        <p:spPr>
          <a:xfrm>
            <a:off x="548640" y="256032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8346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6700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Investigate infrastructure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0175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Dated threat-intel lookups on IPs, domains and URLs, with service and confidence noted</a:t>
            </a:r>
            <a:endParaRPr lang="en-US" sz="1300" dirty="0"/>
          </a:p>
        </p:txBody>
      </p:sp>
      <p:sp>
        <p:nvSpPr>
          <p:cNvPr id="15" name="rec-4"/>
          <p:cNvSpPr/>
          <p:nvPr/>
        </p:nvSpPr>
        <p:spPr>
          <a:xfrm>
            <a:off x="6172200" y="256032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283464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6700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Protect users from links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0175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Use previously trusted sites or apps — never embedded verification or payment links</a:t>
            </a:r>
            <a:endParaRPr lang="en-US" sz="1300" dirty="0"/>
          </a:p>
        </p:txBody>
      </p:sp>
      <p:sp>
        <p:nvSpPr>
          <p:cNvPr id="19" name="rec-5"/>
          <p:cNvSpPr/>
          <p:nvPr/>
        </p:nvSpPr>
        <p:spPr>
          <a:xfrm>
            <a:off x="548640" y="379476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39044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Verify financial changes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2519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Confirm any supplier banking change through an established contact before paying</a:t>
            </a:r>
            <a:endParaRPr lang="en-US" sz="1300" dirty="0"/>
          </a:p>
        </p:txBody>
      </p:sp>
      <p:sp>
        <p:nvSpPr>
          <p:cNvPr id="23" name="rec-6"/>
          <p:cNvSpPr/>
          <p:nvPr/>
        </p:nvSpPr>
        <p:spPr>
          <a:xfrm>
            <a:off x="6172200" y="379476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406908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39044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Analyse attachments safely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42519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Decode, hash (SHA-256), confirm file type and inspect statically — no execution</a:t>
            </a:r>
            <a:endParaRPr lang="en-US" sz="1300" dirty="0"/>
          </a:p>
        </p:txBody>
      </p:sp>
      <p:sp>
        <p:nvSpPr>
          <p:cNvPr id="27" name="rec-7"/>
          <p:cNvSpPr/>
          <p:nvPr/>
        </p:nvSpPr>
        <p:spPr>
          <a:xfrm>
            <a:off x="548640" y="502920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508760" y="51389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 user exposure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54864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Did anyone click, submit credentials, download files or authorise payments?</a:t>
            </a:r>
            <a:endParaRPr lang="en-US" sz="1300" dirty="0"/>
          </a:p>
        </p:txBody>
      </p:sp>
      <p:sp>
        <p:nvSpPr>
          <p:cNvPr id="31" name="rec-8"/>
          <p:cNvSpPr/>
          <p:nvPr/>
        </p:nvSpPr>
        <p:spPr>
          <a:xfrm>
            <a:off x="6172200" y="5029200"/>
            <a:ext cx="54406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0" y="5303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1389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Escalate if confirmed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54864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Trigger credential-compromise, fraud or incident-response procedures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Final disposition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11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High-priority suspected phishing and social-engineering activity across all four cases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617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4617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emails show suspected credential theft or financial fraud attempts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46177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4617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confirmed compromises, fraudulent payments or malware executions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914400"/>
            <a:ext cx="1005840" cy="10058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165860"/>
            <a:ext cx="502920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C Threat">
  <a:themeElements>
    <a:clrScheme name="SOC Threat">
      <a:dk1>
        <a:srgbClr val="0F172A"/>
      </a:dk1>
      <a:lt1>
        <a:srgbClr val="FFFFFF"/>
      </a:lt1>
      <a:dk2>
        <a:srgbClr val="0B1320"/>
      </a:dk2>
      <a:lt2>
        <a:srgbClr val="EEF2F6"/>
      </a:lt2>
      <a:accent1>
        <a:srgbClr val="E4572E"/>
      </a:accent1>
      <a:accent2>
        <a:srgbClr val="17A398"/>
      </a:accent2>
      <a:accent3>
        <a:srgbClr val="E0A030"/>
      </a:accent3>
      <a:accent4>
        <a:srgbClr val="64748B"/>
      </a:accent4>
      <a:accent5>
        <a:srgbClr val="1E293B"/>
      </a:accent5>
      <a:accent6>
        <a:srgbClr val="94A3B8"/>
      </a:accent6>
      <a:hlink>
        <a:srgbClr val="17A398"/>
      </a:hlink>
      <a:folHlink>
        <a:srgbClr val="64748B"/>
      </a:folHlink>
    </a:clrScheme>
    <a:fontScheme name="SOC Threa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A — Desk-Based Email Threat Analysis</dc:title>
  <dc:subject>PptxGenJS Presentation</dc:subject>
  <dc:creator>SOC Investigation</dc:creator>
  <cp:lastModifiedBy>SOC Investigation</cp:lastModifiedBy>
  <cp:revision>1</cp:revision>
  <dcterms:created xsi:type="dcterms:W3CDTF">2026-10-31T10:00:58Z</dcterms:created>
  <dcterms:modified xsi:type="dcterms:W3CDTF">2026-10-31T10:00:58Z</dcterms:modified>
</cp:coreProperties>
</file>