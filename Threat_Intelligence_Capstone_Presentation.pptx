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3878786-42bd-4ba5-21d6-3a6802bd424e}">
          <p14:sldIdLst/>
        </p14:section>
        <p14:section name="Default-1" id="{a4420721-68c6-4ed6-de62-67d306859459}">
          <p14:sldIdLst>
            <p14:sldId id="257"/>
            <p14:sldId id="258"/>
          </p14:sldIdLst>
        </p14:section>
        <p14:section name="Method and lab" id="{53666a09-f5fb-8c43-7042-3aac6bf27ddb}">
          <p14:sldIdLst/>
        </p14:section>
        <p14:section name="Default-2" id="{52f53fd3-aef5-70ea-4192-9b1f81e6400b}">
          <p14:sldIdLst>
            <p14:sldId id="259"/>
            <p14:sldId id="260"/>
          </p14:sldIdLst>
        </p14:section>
        <p14:section name="Part A findings" id="{41a379dd-cf70-ee78-36ed-f0757a4f7d3e}">
          <p14:sldIdLst/>
        </p14:section>
        <p14:section name="Default-3" id="{17cb52d4-37e4-6bb1-d160-818328e948c5}">
          <p14:sldIdLst>
            <p14:sldId id="261"/>
            <p14:sldId id="262"/>
            <p14:sldId id="263"/>
            <p14:sldId id="264"/>
          </p14:sldIdLst>
        </p14:section>
        <p14:section name="Part B findings" id="{b6c9e454-af87-e4c8-683a-9cf34a705f19}">
          <p14:sldIdLst/>
        </p14:section>
        <p14:section name="Default-4" id="{f71a31ee-de7c-19d0-6159-2bc14987b6a3}">
          <p14:sldIdLst>
            <p14:sldId id="265"/>
          </p14:sldIdLst>
        </p14:section>
        <p14:section name="Response" id="{644bc95f-75c9-6347-21a1-91b13b7d846c}">
          <p14:sldIdLst/>
        </p14:section>
        <p14:section name="Default-5" id="{7ad42561-d769-95ae-b268-5f890a49b69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SOC investigation of four suspected phishing emails (Part A) and a Wazuh lab on three detections (Part B). Seven cases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cases. Part A is static desk-based analysis of four emails (14-18 April 2026). Part B is the Wazuh lab of 24 October 2026. 157 lab screenshots support the findings. Nothing was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emails are very likely phishing or fraud. Wazuh detected two of three threats end to end; YARA is configured but its scan result is not in the screenshots. Priority order starts with the invoice fraud because of the USD $47,250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preparation is shown step by step in the screenshots: YARA 4.5.5 built and tested, real-time FIM, custom rules and decoders, active response, rootcheck and Apache. No restoration appears in the screenshots, so the restoration checklist is recommended, not evidenced.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steps were applied to every email. Headers can be forged, so values are recorded as reported; reputation screenshots show a past lookup, about six months after the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2 impersonates Delta Supplies Corp and asks the CFO for USD $47,250 by 22 April to a new Riga account. The IBAN is 22 characters (Latvian IBANs are 21) and fails the checksum, the BIC is 12 characters, the phone exchange begins with 0. Payment, reply and compromise are not confirmed. First action: confirm with finance and the bank that nothing was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email impersonates a brand from unrelated infrastructure with failed authentication and a placeholder DKIM signature. Email 5: Bank of America, reset within 12 hours. Email 1: Microsoft, 24 hours to verify. Email 4: DHL, $2.99 fee and a ZIP. None is shown to have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Indicators were extracted from headers, bodies, links and attachment names, all defanged. Lookups were about 16 to 17 October 2026, six months after the emails. A 0 percent AbuseIPDB score on old reports does not clear an IP, and no domain reputation was supplied for any attacker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Emails 1 and 5 use the same two IP addresses in opposite roles. All four emails reached relays in 10.114.72.0/24 within five days and share a one-year timestamp shift and placeholder DKIM values. This suggests one actor, one template or a constructed data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detections on agent 001. File integrity monitoring raised rules 100300 and 100301 on the xbash sample with a consistent hash chain. Rootcheck rule 510 flagged the replaced /usr/bin/w from 03:20:34 WAT. Rule 31168 flagged the Shellshock User-Agent at level 15, but the server returned the stock Apache page. The YARA scan result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Email 2 payment position, then recipient exposure for Emails 5, 1 and 4, then block indicators. Part B actions close the monitoring gaps: show the wazuh-yara event, restore the binary, add syscheck hashes and test Shellshock with a CGI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conclusion and the gaps. Offer the full 100-page report and the 5-page summary for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86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rgbClr val="7F7F7F"/>
                </a:solidFill>
                <a:latin typeface="Calibri" pitchFamily="34" charset="0"/>
                <a:ea typeface="Calibri" pitchFamily="34" charset="-122"/>
                <a:cs typeface="Calibri" pitchFamily="34" charset="-120"/>
              </a:rPr>
              <a:t>Faith Ejele, SOC Analyst  |  10alytics,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3657600" cy="365760"/>
          </a:xfrm>
          <a:prstGeom prst="rect">
            <a:avLst/>
          </a:prstGeom>
          <a:noFill/>
          <a:ln/>
        </p:spPr>
        <p:txBody>
          <a:bodyPr wrap="square" lIns="0" tIns="0" rIns="0" bIns="0" rtlCol="0" anchor="ctr"/>
          <a:lstStyle/>
          <a:p>
            <a:pPr indent="0" marL="0">
              <a:buNone/>
            </a:pPr>
            <a:r>
              <a:rPr lang="en-US" sz="1800" b="1" spc="400" kern="0" dirty="0">
                <a:solidFill>
                  <a:srgbClr val="B8C4E0"/>
                </a:solidFill>
              </a:rPr>
              <a:t>10alytics</a:t>
            </a:r>
            <a:endParaRPr lang="en-US" sz="1800" dirty="0"/>
          </a:p>
        </p:txBody>
      </p:sp>
      <p:sp>
        <p:nvSpPr>
          <p:cNvPr id="3" name="Text 1"/>
          <p:cNvSpPr txBox="1"/>
          <p:nvPr/>
        </p:nvSpPr>
        <p:spPr>
          <a:xfrm>
            <a:off x="640080" y="128016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Threat Intelligence Capstone Project</a:t>
            </a:r>
            <a:endParaRPr lang="en-US" sz="3400" dirty="0"/>
          </a:p>
        </p:txBody>
      </p:sp>
      <p:sp>
        <p:nvSpPr>
          <p:cNvPr id="4" name="Text 2"/>
          <p:cNvSpPr txBox="1"/>
          <p:nvPr/>
        </p:nvSpPr>
        <p:spPr>
          <a:xfrm>
            <a:off x="640080" y="2103120"/>
            <a:ext cx="7863840" cy="457200"/>
          </a:xfrm>
          <a:prstGeom prst="rect">
            <a:avLst/>
          </a:prstGeom>
          <a:noFill/>
          <a:ln/>
        </p:spPr>
        <p:txBody>
          <a:bodyPr wrap="square" lIns="0" tIns="0" rIns="0" bIns="0" rtlCol="0" anchor="ctr"/>
          <a:lstStyle/>
          <a:p>
            <a:pPr indent="0" marL="0">
              <a:buNone/>
            </a:pPr>
            <a:r>
              <a:rPr lang="en-US" sz="2400" dirty="0">
                <a:solidFill>
                  <a:srgbClr val="B8C4E0"/>
                </a:solidFill>
                <a:latin typeface="Cambria" pitchFamily="34" charset="0"/>
                <a:ea typeface="Cambria" pitchFamily="34" charset="-122"/>
                <a:cs typeface="Cambria" pitchFamily="34" charset="-120"/>
              </a:rPr>
              <a:t>Harmony Health Threat Investigation</a:t>
            </a:r>
            <a:endParaRPr lang="en-US" sz="2400" dirty="0"/>
          </a:p>
        </p:txBody>
      </p:sp>
      <p:sp>
        <p:nvSpPr>
          <p:cNvPr id="5" name="Text 3"/>
          <p:cNvSpPr txBox="1"/>
          <p:nvPr/>
        </p:nvSpPr>
        <p:spPr>
          <a:xfrm>
            <a:off x="640080" y="2743200"/>
            <a:ext cx="7863840" cy="548640"/>
          </a:xfrm>
          <a:prstGeom prst="rect">
            <a:avLst/>
          </a:prstGeom>
          <a:noFill/>
          <a:ln/>
        </p:spPr>
        <p:txBody>
          <a:bodyPr wrap="square" lIns="0" tIns="0" rIns="0" bIns="0" rtlCol="0" anchor="ctr"/>
          <a:lstStyle/>
          <a:p>
            <a:pPr indent="0" marL="0">
              <a:buNone/>
            </a:pPr>
            <a:r>
              <a:rPr lang="en-US" sz="1400" dirty="0">
                <a:solidFill>
                  <a:srgbClr val="FFFFFF"/>
                </a:solidFill>
              </a:rPr>
              <a:t>Part A: four phishing investigations   |   Part B: Wazuh detection of malware, suspicious binaries and Shellshock</a:t>
            </a:r>
            <a:endParaRPr lang="en-US" sz="1400" dirty="0"/>
          </a:p>
        </p:txBody>
      </p:sp>
      <p:sp>
        <p:nvSpPr>
          <p:cNvPr id="6" name="Text 4"/>
          <p:cNvSpPr txBox="1"/>
          <p:nvPr/>
        </p:nvSpPr>
        <p:spPr>
          <a:xfrm>
            <a:off x="640080" y="3840480"/>
            <a:ext cx="5486400" cy="731520"/>
          </a:xfrm>
          <a:prstGeom prst="rect">
            <a:avLst/>
          </a:prstGeom>
          <a:noFill/>
          <a:ln/>
        </p:spPr>
        <p:txBody>
          <a:bodyPr wrap="square" lIns="0" tIns="0" rIns="0" bIns="0" rtlCol="0" anchor="ctr"/>
          <a:lstStyle/>
          <a:p>
            <a:pPr indent="0" marL="0">
              <a:buNone/>
            </a:pPr>
            <a:r>
              <a:rPr lang="en-US" sz="2000" b="1" dirty="0">
                <a:solidFill>
                  <a:srgbClr val="FFFFFF"/>
                </a:solidFill>
              </a:rPr>
              <a:t>Faith Ejele</a:t>
            </a:r>
            <a:endParaRPr lang="en-US" sz="2000" dirty="0"/>
          </a:p>
          <a:p>
            <a:pPr indent="0" marL="0">
              <a:buNone/>
            </a:pPr>
            <a:r>
              <a:rPr lang="en-US" sz="1400" dirty="0">
                <a:solidFill>
                  <a:srgbClr val="FFFFFF"/>
                </a:solidFill>
              </a:rPr>
              <a:t>SOC Analyst  |  10alytics,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Objectives and scope</a:t>
            </a:r>
            <a:endParaRPr lang="en-US" sz="2800" dirty="0"/>
          </a:p>
        </p:txBody>
      </p:sp>
      <p:sp>
        <p:nvSpPr>
          <p:cNvPr id="4" name="cardA"/>
          <p:cNvSpPr/>
          <p:nvPr/>
        </p:nvSpPr>
        <p:spPr>
          <a:xfrm>
            <a:off x="457200" y="1143000"/>
            <a:ext cx="4023360" cy="2377440"/>
          </a:xfrm>
          <a:prstGeom prst="roundRect">
            <a:avLst>
              <a:gd name="adj" fmla="val 3846"/>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5" name="numA"/>
          <p:cNvSpPr/>
          <p:nvPr/>
        </p:nvSpPr>
        <p:spPr>
          <a:xfrm>
            <a:off x="685800" y="1325880"/>
            <a:ext cx="384048" cy="384048"/>
          </a:xfrm>
          <a:prstGeom prst="ellipse">
            <a:avLst/>
          </a:prstGeom>
          <a:solidFill>
            <a:srgbClr val="2F5496"/>
          </a:solidFill>
          <a:ln w="12700">
            <a:solidFill>
              <a:srgbClr val="2F5496"/>
            </a:solidFill>
            <a:prstDash val="solid"/>
          </a:ln>
        </p:spPr>
      </p:sp>
      <p:sp>
        <p:nvSpPr>
          <p:cNvPr id="6" name="Text 3"/>
          <p:cNvSpPr txBox="1"/>
          <p:nvPr/>
        </p:nvSpPr>
        <p:spPr>
          <a:xfrm>
            <a:off x="68580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7" name="Text 4"/>
          <p:cNvSpPr txBox="1"/>
          <p:nvPr/>
        </p:nvSpPr>
        <p:spPr>
          <a:xfrm>
            <a:off x="1188720" y="1325880"/>
            <a:ext cx="3108960" cy="384048"/>
          </a:xfrm>
          <a:prstGeom prst="rect">
            <a:avLst/>
          </a:prstGeom>
          <a:noFill/>
          <a:ln/>
        </p:spPr>
        <p:txBody>
          <a:bodyPr wrap="square" lIns="0" tIns="0" rIns="0" bIns="0" rtlCol="0" anchor="ctr"/>
          <a:lstStyle/>
          <a:p>
            <a:pPr indent="0" marL="0">
              <a:buNone/>
            </a:pPr>
            <a:r>
              <a:rPr lang="en-US" sz="1800" b="1" dirty="0">
                <a:solidFill>
                  <a:srgbClr val="1F3864"/>
                </a:solidFill>
              </a:rPr>
              <a:t>Part A: phishing</a:t>
            </a:r>
            <a:endParaRPr lang="en-US" sz="1800" dirty="0"/>
          </a:p>
        </p:txBody>
      </p:sp>
      <p:sp>
        <p:nvSpPr>
          <p:cNvPr id="8" name="Text 5"/>
          <p:cNvSpPr txBox="1"/>
          <p:nvPr/>
        </p:nvSpPr>
        <p:spPr>
          <a:xfrm>
            <a:off x="731520" y="192024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4 emails: Microsoft, supplier invoice, DHL, Bank of America</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Headers, authentication, content, attachments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IOC extraction and enrichment</a:t>
            </a:r>
            <a:endParaRPr lang="en-US" sz="1400" dirty="0"/>
          </a:p>
        </p:txBody>
      </p:sp>
      <p:sp>
        <p:nvSpPr>
          <p:cNvPr id="9" name="cardB"/>
          <p:cNvSpPr/>
          <p:nvPr/>
        </p:nvSpPr>
        <p:spPr>
          <a:xfrm>
            <a:off x="4663440" y="1143000"/>
            <a:ext cx="4023360" cy="2377440"/>
          </a:xfrm>
          <a:prstGeom prst="roundRect">
            <a:avLst>
              <a:gd name="adj" fmla="val 3846"/>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0" name="numB"/>
          <p:cNvSpPr/>
          <p:nvPr/>
        </p:nvSpPr>
        <p:spPr>
          <a:xfrm>
            <a:off x="4892040" y="1325880"/>
            <a:ext cx="384048" cy="384048"/>
          </a:xfrm>
          <a:prstGeom prst="ellipse">
            <a:avLst/>
          </a:prstGeom>
          <a:solidFill>
            <a:srgbClr val="2F5496"/>
          </a:solidFill>
          <a:ln w="12700">
            <a:solidFill>
              <a:srgbClr val="2F5496"/>
            </a:solidFill>
            <a:prstDash val="solid"/>
          </a:ln>
        </p:spPr>
      </p:sp>
      <p:sp>
        <p:nvSpPr>
          <p:cNvPr id="11" name="Text 8"/>
          <p:cNvSpPr txBox="1"/>
          <p:nvPr/>
        </p:nvSpPr>
        <p:spPr>
          <a:xfrm>
            <a:off x="489204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Text 9"/>
          <p:cNvSpPr txBox="1"/>
          <p:nvPr/>
        </p:nvSpPr>
        <p:spPr>
          <a:xfrm>
            <a:off x="5394960" y="1325880"/>
            <a:ext cx="3108960" cy="384048"/>
          </a:xfrm>
          <a:prstGeom prst="rect">
            <a:avLst/>
          </a:prstGeom>
          <a:noFill/>
          <a:ln/>
        </p:spPr>
        <p:txBody>
          <a:bodyPr wrap="square" lIns="0" tIns="0" rIns="0" bIns="0" rtlCol="0" anchor="ctr"/>
          <a:lstStyle/>
          <a:p>
            <a:pPr indent="0" marL="0">
              <a:buNone/>
            </a:pPr>
            <a:r>
              <a:rPr lang="en-US" sz="1800" b="1" dirty="0">
                <a:solidFill>
                  <a:srgbClr val="1F3864"/>
                </a:solidFill>
              </a:rPr>
              <a:t>Part B: Wazuh detection</a:t>
            </a:r>
            <a:endParaRPr lang="en-US" sz="1800" dirty="0"/>
          </a:p>
        </p:txBody>
      </p:sp>
      <p:sp>
        <p:nvSpPr>
          <p:cNvPr id="13" name="Text 10"/>
          <p:cNvSpPr txBox="1"/>
          <p:nvPr/>
        </p:nvSpPr>
        <p:spPr>
          <a:xfrm>
            <a:off x="4937760" y="192024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3 detections: malware samples (YARA and FIM), trojaned binary, Shellshock</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Monitoring prepared and verified</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Lab restoration</a:t>
            </a:r>
            <a:endParaRPr lang="en-US" sz="1400" dirty="0"/>
          </a:p>
        </p:txBody>
      </p:sp>
      <p:sp>
        <p:nvSpPr>
          <p:cNvPr id="14" name="Text 11"/>
          <p:cNvSpPr txBox="1"/>
          <p:nvPr/>
        </p:nvSpPr>
        <p:spPr>
          <a:xfrm>
            <a:off x="457200" y="3657600"/>
            <a:ext cx="1097280" cy="731520"/>
          </a:xfrm>
          <a:prstGeom prst="rect">
            <a:avLst/>
          </a:prstGeom>
          <a:noFill/>
          <a:ln/>
        </p:spPr>
        <p:txBody>
          <a:bodyPr wrap="square" lIns="0" tIns="0" rIns="0" bIns="0" rtlCol="0" anchor="ctr"/>
          <a:lstStyle/>
          <a:p>
            <a:pPr indent="0" marL="0">
              <a:buNone/>
            </a:pPr>
            <a:r>
              <a:rPr lang="en-US" sz="4400" b="1" dirty="0">
                <a:solidFill>
                  <a:srgbClr val="2F5496"/>
                </a:solidFill>
                <a:latin typeface="Cambria" pitchFamily="34" charset="0"/>
                <a:ea typeface="Cambria" pitchFamily="34" charset="-122"/>
                <a:cs typeface="Cambria" pitchFamily="34" charset="-120"/>
              </a:rPr>
              <a:t>7</a:t>
            </a:r>
            <a:endParaRPr lang="en-US" sz="4400" dirty="0"/>
          </a:p>
        </p:txBody>
      </p:sp>
      <p:sp>
        <p:nvSpPr>
          <p:cNvPr id="15" name="Text 12"/>
          <p:cNvSpPr txBox="1"/>
          <p:nvPr/>
        </p:nvSpPr>
        <p:spPr>
          <a:xfrm>
            <a:off x="1600200" y="3657600"/>
            <a:ext cx="1645920" cy="731520"/>
          </a:xfrm>
          <a:prstGeom prst="rect">
            <a:avLst/>
          </a:prstGeom>
          <a:noFill/>
          <a:ln/>
        </p:spPr>
        <p:txBody>
          <a:bodyPr wrap="square" lIns="0" tIns="0" rIns="0" bIns="0" rtlCol="0" anchor="ctr"/>
          <a:lstStyle/>
          <a:p>
            <a:pPr indent="0" marL="0">
              <a:buNone/>
            </a:pPr>
            <a:r>
              <a:rPr lang="en-US" sz="1400" dirty="0">
                <a:solidFill>
                  <a:srgbClr val="595959"/>
                </a:solidFill>
              </a:rPr>
              <a:t>cases</a:t>
            </a:r>
            <a:endParaRPr lang="en-US" sz="1400" dirty="0"/>
          </a:p>
        </p:txBody>
      </p:sp>
      <p:sp>
        <p:nvSpPr>
          <p:cNvPr id="16" name="Text 13"/>
          <p:cNvSpPr txBox="1"/>
          <p:nvPr/>
        </p:nvSpPr>
        <p:spPr>
          <a:xfrm>
            <a:off x="3291840" y="3657600"/>
            <a:ext cx="1097280" cy="731520"/>
          </a:xfrm>
          <a:prstGeom prst="rect">
            <a:avLst/>
          </a:prstGeom>
          <a:noFill/>
          <a:ln/>
        </p:spPr>
        <p:txBody>
          <a:bodyPr wrap="square" lIns="0" tIns="0" rIns="0" bIns="0" rtlCol="0" anchor="ctr"/>
          <a:lstStyle/>
          <a:p>
            <a:pPr indent="0" marL="0">
              <a:buNone/>
            </a:pPr>
            <a:r>
              <a:rPr lang="en-US" sz="4400" b="1" dirty="0">
                <a:solidFill>
                  <a:srgbClr val="2F5496"/>
                </a:solidFill>
                <a:latin typeface="Cambria" pitchFamily="34" charset="0"/>
                <a:ea typeface="Cambria" pitchFamily="34" charset="-122"/>
                <a:cs typeface="Cambria" pitchFamily="34" charset="-120"/>
              </a:rPr>
              <a:t>157</a:t>
            </a:r>
            <a:endParaRPr lang="en-US" sz="4400" dirty="0"/>
          </a:p>
        </p:txBody>
      </p:sp>
      <p:sp>
        <p:nvSpPr>
          <p:cNvPr id="17" name="Text 14"/>
          <p:cNvSpPr txBox="1"/>
          <p:nvPr/>
        </p:nvSpPr>
        <p:spPr>
          <a:xfrm>
            <a:off x="4434840" y="3657600"/>
            <a:ext cx="1645920" cy="731520"/>
          </a:xfrm>
          <a:prstGeom prst="rect">
            <a:avLst/>
          </a:prstGeom>
          <a:noFill/>
          <a:ln/>
        </p:spPr>
        <p:txBody>
          <a:bodyPr wrap="square" lIns="0" tIns="0" rIns="0" bIns="0" rtlCol="0" anchor="ctr"/>
          <a:lstStyle/>
          <a:p>
            <a:pPr indent="0" marL="0">
              <a:buNone/>
            </a:pPr>
            <a:r>
              <a:rPr lang="en-US" sz="1400" dirty="0">
                <a:solidFill>
                  <a:srgbClr val="595959"/>
                </a:solidFill>
              </a:rPr>
              <a:t>lab screenshots</a:t>
            </a:r>
            <a:endParaRPr lang="en-US" sz="1400" dirty="0"/>
          </a:p>
        </p:txBody>
      </p:sp>
      <p:sp>
        <p:nvSpPr>
          <p:cNvPr id="18" name="Text 15"/>
          <p:cNvSpPr txBox="1"/>
          <p:nvPr/>
        </p:nvSpPr>
        <p:spPr>
          <a:xfrm>
            <a:off x="6126480" y="3657600"/>
            <a:ext cx="1097280" cy="731520"/>
          </a:xfrm>
          <a:prstGeom prst="rect">
            <a:avLst/>
          </a:prstGeom>
          <a:noFill/>
          <a:ln/>
        </p:spPr>
        <p:txBody>
          <a:bodyPr wrap="square" lIns="0" tIns="0" rIns="0" bIns="0" rtlCol="0" anchor="ctr"/>
          <a:lstStyle/>
          <a:p>
            <a:pPr indent="0" marL="0">
              <a:buNone/>
            </a:pPr>
            <a:r>
              <a:rPr lang="en-US" sz="4400" b="1" dirty="0">
                <a:solidFill>
                  <a:srgbClr val="2E7D32"/>
                </a:solidFill>
                <a:latin typeface="Cambria" pitchFamily="34" charset="0"/>
                <a:ea typeface="Cambria" pitchFamily="34" charset="-122"/>
                <a:cs typeface="Cambria" pitchFamily="34" charset="-120"/>
              </a:rPr>
              <a:t>0</a:t>
            </a:r>
            <a:endParaRPr lang="en-US" sz="4400" dirty="0"/>
          </a:p>
        </p:txBody>
      </p:sp>
      <p:sp>
        <p:nvSpPr>
          <p:cNvPr id="19" name="Text 16"/>
          <p:cNvSpPr txBox="1"/>
          <p:nvPr/>
        </p:nvSpPr>
        <p:spPr>
          <a:xfrm>
            <a:off x="7269480" y="3657600"/>
            <a:ext cx="1645920" cy="731520"/>
          </a:xfrm>
          <a:prstGeom prst="rect">
            <a:avLst/>
          </a:prstGeom>
          <a:noFill/>
          <a:ln/>
        </p:spPr>
        <p:txBody>
          <a:bodyPr wrap="square" lIns="0" tIns="0" rIns="0" bIns="0" rtlCol="0" anchor="ctr"/>
          <a:lstStyle/>
          <a:p>
            <a:pPr indent="0" marL="0">
              <a:buNone/>
            </a:pPr>
            <a:r>
              <a:rPr lang="en-US" sz="1400" dirty="0">
                <a:solidFill>
                  <a:srgbClr val="595959"/>
                </a:solidFill>
              </a:rPr>
              <a:t>confirmed compromises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Headline verdict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80160"/>
                <a:gridCol w="2926080"/>
                <a:gridCol w="1188720"/>
                <a:gridCol w="28346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Case</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Subject</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TIC-PH-E2</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Supplier invoice fraud, $47,250</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00000"/>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Confirm no payment was made</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TIC-PH-E5</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Bank of America phishing</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69F00"/>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Recipient interaction unknown</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TIC-PH-E1</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Microsoft account phishing</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69F00"/>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Check sign-in logs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TIC-PH-E4</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DHL fee phishing with ZIP</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MED-HIGH</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2F5496"/>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ZIP looks like a stub</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TIC-WZ-01</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Malware samples and YARA</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LAB</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2E7D32"/>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FIM verified; YARA match not shown</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TIC-WZ-02</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Trojaned /usr/bin/w</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LAB</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2E7D32"/>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Rootcheck rule 510 fired</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b="1" dirty="0">
                          <a:solidFill>
                            <a:srgbClr val="1B1F2A"/>
                          </a:solidFill>
                          <a:latin typeface="Calibri" pitchFamily="34" charset="0"/>
                          <a:ea typeface="Calibri" pitchFamily="34" charset="-122"/>
                          <a:cs typeface="Calibri" pitchFamily="34" charset="-120"/>
                        </a:rPr>
                        <a:t>TIC-WZ-03</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Shellshock pattern</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LAB</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2E7D32"/>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Rule 31168, level 15; attempt only</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bl>
          </a:graphicData>
        </a:graphic>
      </p:graphicFrame>
      <p:sp>
        <p:nvSpPr>
          <p:cNvPr id="5" name="Text 1"/>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500" b="1" dirty="0">
                <a:solidFill>
                  <a:srgbClr val="C00000"/>
                </a:solidFill>
              </a:rPr>
              <a:t>No compromise, payment loss or malware execution is confirmed in any case.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Lab preparation and restoration</a:t>
            </a:r>
            <a:endParaRPr lang="en-US" sz="2800" dirty="0"/>
          </a:p>
        </p:txBody>
      </p:sp>
      <p:sp>
        <p:nvSpPr>
          <p:cNvPr id="4" name="stepPrepare"/>
          <p:cNvSpPr/>
          <p:nvPr/>
        </p:nvSpPr>
        <p:spPr>
          <a:xfrm>
            <a:off x="457200" y="1051560"/>
            <a:ext cx="2011680" cy="548640"/>
          </a:xfrm>
          <a:prstGeom prst="chevron">
            <a:avLst/>
          </a:prstGeom>
          <a:solidFill>
            <a:srgbClr val="2F5496"/>
          </a:solidFill>
          <a:ln w="12700">
            <a:solidFill>
              <a:srgbClr val="FFFFFF"/>
            </a:solidFill>
            <a:prstDash val="solid"/>
          </a:ln>
        </p:spPr>
      </p:sp>
      <p:sp>
        <p:nvSpPr>
          <p:cNvPr id="5" name="Text 2"/>
          <p:cNvSpPr txBox="1"/>
          <p:nvPr/>
        </p:nvSpPr>
        <p:spPr>
          <a:xfrm>
            <a:off x="731520" y="105156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rPr>
              <a:t>Prepare</a:t>
            </a:r>
            <a:endParaRPr lang="en-US" sz="1500" dirty="0"/>
          </a:p>
        </p:txBody>
      </p:sp>
      <p:sp>
        <p:nvSpPr>
          <p:cNvPr id="6" name="stepSimulate"/>
          <p:cNvSpPr/>
          <p:nvPr/>
        </p:nvSpPr>
        <p:spPr>
          <a:xfrm>
            <a:off x="2542032" y="1051560"/>
            <a:ext cx="2011680" cy="548640"/>
          </a:xfrm>
          <a:prstGeom prst="chevron">
            <a:avLst/>
          </a:prstGeom>
          <a:solidFill>
            <a:srgbClr val="2F5496"/>
          </a:solidFill>
          <a:ln w="12700">
            <a:solidFill>
              <a:srgbClr val="FFFFFF"/>
            </a:solidFill>
            <a:prstDash val="solid"/>
          </a:ln>
        </p:spPr>
      </p:sp>
      <p:sp>
        <p:nvSpPr>
          <p:cNvPr id="7" name="Text 4"/>
          <p:cNvSpPr txBox="1"/>
          <p:nvPr/>
        </p:nvSpPr>
        <p:spPr>
          <a:xfrm>
            <a:off x="2816352" y="105156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rPr>
              <a:t>Simulate</a:t>
            </a:r>
            <a:endParaRPr lang="en-US" sz="1500" dirty="0"/>
          </a:p>
        </p:txBody>
      </p:sp>
      <p:sp>
        <p:nvSpPr>
          <p:cNvPr id="8" name="stepDetect"/>
          <p:cNvSpPr/>
          <p:nvPr/>
        </p:nvSpPr>
        <p:spPr>
          <a:xfrm>
            <a:off x="4626864" y="1051560"/>
            <a:ext cx="2011680" cy="548640"/>
          </a:xfrm>
          <a:prstGeom prst="chevron">
            <a:avLst/>
          </a:prstGeom>
          <a:solidFill>
            <a:srgbClr val="2F5496"/>
          </a:solidFill>
          <a:ln w="12700">
            <a:solidFill>
              <a:srgbClr val="FFFFFF"/>
            </a:solidFill>
            <a:prstDash val="solid"/>
          </a:ln>
        </p:spPr>
      </p:sp>
      <p:sp>
        <p:nvSpPr>
          <p:cNvPr id="9" name="Text 6"/>
          <p:cNvSpPr txBox="1"/>
          <p:nvPr/>
        </p:nvSpPr>
        <p:spPr>
          <a:xfrm>
            <a:off x="4901184" y="105156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rPr>
              <a:t>Detect</a:t>
            </a:r>
            <a:endParaRPr lang="en-US" sz="1500" dirty="0"/>
          </a:p>
        </p:txBody>
      </p:sp>
      <p:sp>
        <p:nvSpPr>
          <p:cNvPr id="10" name="stepRestore"/>
          <p:cNvSpPr/>
          <p:nvPr/>
        </p:nvSpPr>
        <p:spPr>
          <a:xfrm>
            <a:off x="6711696" y="1051560"/>
            <a:ext cx="2011680" cy="548640"/>
          </a:xfrm>
          <a:prstGeom prst="chevron">
            <a:avLst/>
          </a:prstGeom>
          <a:solidFill>
            <a:srgbClr val="E69F00"/>
          </a:solidFill>
          <a:ln w="12700">
            <a:solidFill>
              <a:srgbClr val="FFFFFF"/>
            </a:solidFill>
            <a:prstDash val="solid"/>
          </a:ln>
        </p:spPr>
      </p:sp>
      <p:sp>
        <p:nvSpPr>
          <p:cNvPr id="11" name="Text 8"/>
          <p:cNvSpPr txBox="1"/>
          <p:nvPr/>
        </p:nvSpPr>
        <p:spPr>
          <a:xfrm>
            <a:off x="6986016" y="105156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rPr>
              <a:t>Restore</a:t>
            </a:r>
            <a:endParaRPr lang="en-US" sz="1500" dirty="0"/>
          </a:p>
        </p:txBody>
      </p:sp>
      <p:sp>
        <p:nvSpPr>
          <p:cNvPr id="12" name="Text 9"/>
          <p:cNvSpPr txBox="1"/>
          <p:nvPr/>
        </p:nvSpPr>
        <p:spPr>
          <a:xfrm>
            <a:off x="457200" y="1828800"/>
            <a:ext cx="4023360" cy="320040"/>
          </a:xfrm>
          <a:prstGeom prst="rect">
            <a:avLst/>
          </a:prstGeom>
          <a:noFill/>
          <a:ln/>
        </p:spPr>
        <p:txBody>
          <a:bodyPr wrap="square" lIns="0" tIns="0" rIns="0" bIns="0" rtlCol="0" anchor="ctr"/>
          <a:lstStyle/>
          <a:p>
            <a:pPr indent="0" marL="0">
              <a:buNone/>
            </a:pPr>
            <a:r>
              <a:rPr lang="en-US" sz="1600" b="1" dirty="0">
                <a:solidFill>
                  <a:srgbClr val="1F3864"/>
                </a:solidFill>
              </a:rPr>
              <a:t>Prepared and shown</a:t>
            </a:r>
            <a:endParaRPr lang="en-US" sz="1600" dirty="0"/>
          </a:p>
        </p:txBody>
      </p:sp>
      <p:sp>
        <p:nvSpPr>
          <p:cNvPr id="13" name="Text 10"/>
          <p:cNvSpPr txBox="1"/>
          <p:nvPr/>
        </p:nvSpPr>
        <p:spPr>
          <a:xfrm>
            <a:off x="457200" y="2194560"/>
            <a:ext cx="40233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YARA 4.5.5 built, 16 of 16 tests passed</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Real-time FIM on /tmp/yara/malware</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Rules 100300, 100301, 108000 and yara_decoder</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Active response, rootcheck and Apache2</a:t>
            </a:r>
            <a:endParaRPr lang="en-US" sz="1400" dirty="0"/>
          </a:p>
        </p:txBody>
      </p:sp>
      <p:sp>
        <p:nvSpPr>
          <p:cNvPr id="14" name="Text 11"/>
          <p:cNvSpPr txBox="1"/>
          <p:nvPr/>
        </p:nvSpPr>
        <p:spPr>
          <a:xfrm>
            <a:off x="4663440" y="1828800"/>
            <a:ext cx="4023360" cy="320040"/>
          </a:xfrm>
          <a:prstGeom prst="rect">
            <a:avLst/>
          </a:prstGeom>
          <a:noFill/>
          <a:ln/>
        </p:spPr>
        <p:txBody>
          <a:bodyPr wrap="square" lIns="0" tIns="0" rIns="0" bIns="0" rtlCol="0" anchor="ctr"/>
          <a:lstStyle/>
          <a:p>
            <a:pPr indent="0" marL="0">
              <a:buNone/>
            </a:pPr>
            <a:r>
              <a:rPr lang="en-US" sz="1600" b="1" dirty="0">
                <a:solidFill>
                  <a:srgbClr val="1F3864"/>
                </a:solidFill>
              </a:rPr>
              <a:t>Restoration (recommended)</a:t>
            </a:r>
            <a:endParaRPr lang="en-US" sz="1600" dirty="0"/>
          </a:p>
        </p:txBody>
      </p:sp>
      <p:sp>
        <p:nvSpPr>
          <p:cNvPr id="15" name="Text 12"/>
          <p:cNvSpPr txBox="1"/>
          <p:nvPr/>
        </p:nvSpPr>
        <p:spPr>
          <a:xfrm>
            <a:off x="4663440" y="2194560"/>
            <a:ext cx="40233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Restore /usr/bin/w from w.copy; delete the marker file</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Remove samples after recording hashes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Disable Apache and sshd; revert VM snapshots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Export alerts before cleanup</a:t>
            </a:r>
            <a:endParaRPr lang="en-US" sz="1400" dirty="0"/>
          </a:p>
        </p:txBody>
      </p:sp>
      <p:sp>
        <p:nvSpPr>
          <p:cNvPr id="16" name="chip Not shown in the screenshots"/>
          <p:cNvSpPr/>
          <p:nvPr/>
        </p:nvSpPr>
        <p:spPr>
          <a:xfrm>
            <a:off x="4663440" y="4160520"/>
            <a:ext cx="2743200" cy="274320"/>
          </a:xfrm>
          <a:prstGeom prst="roundRect">
            <a:avLst>
              <a:gd name="adj" fmla="val 26667"/>
            </a:avLst>
          </a:prstGeom>
          <a:solidFill>
            <a:srgbClr val="E69F00"/>
          </a:solidFill>
          <a:ln w="12700">
            <a:solidFill>
              <a:srgbClr val="E69F00"/>
            </a:solidFill>
            <a:prstDash val="solid"/>
          </a:ln>
        </p:spPr>
      </p:sp>
      <p:sp>
        <p:nvSpPr>
          <p:cNvPr id="17" name="Text 14"/>
          <p:cNvSpPr txBox="1"/>
          <p:nvPr/>
        </p:nvSpPr>
        <p:spPr>
          <a:xfrm>
            <a:off x="4663440" y="4160520"/>
            <a:ext cx="2743200" cy="274320"/>
          </a:xfrm>
          <a:prstGeom prst="rect">
            <a:avLst/>
          </a:prstGeom>
          <a:noFill/>
          <a:ln/>
        </p:spPr>
        <p:txBody>
          <a:bodyPr wrap="square" lIns="0" tIns="0" rIns="0" bIns="0" rtlCol="0" anchor="ctr"/>
          <a:lstStyle/>
          <a:p>
            <a:pPr algn="ctr" indent="0" marL="0">
              <a:buNone/>
            </a:pPr>
            <a:r>
              <a:rPr lang="en-US" sz="1100" b="1" dirty="0">
                <a:solidFill>
                  <a:srgbClr val="FFFFFF"/>
                </a:solidFill>
              </a:rPr>
              <a:t>Not shown in the screenshots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How each email was investigated</a:t>
            </a:r>
            <a:endParaRPr lang="en-US" sz="2800" dirty="0"/>
          </a:p>
        </p:txBody>
      </p:sp>
      <p:sp>
        <p:nvSpPr>
          <p:cNvPr id="4" name="m0"/>
          <p:cNvSpPr/>
          <p:nvPr/>
        </p:nvSpPr>
        <p:spPr>
          <a:xfrm>
            <a:off x="457200" y="1188720"/>
            <a:ext cx="2651760" cy="1280160"/>
          </a:xfrm>
          <a:prstGeom prst="roundRect">
            <a:avLst>
              <a:gd name="adj" fmla="val 7143"/>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5" name="num1"/>
          <p:cNvSpPr/>
          <p:nvPr/>
        </p:nvSpPr>
        <p:spPr>
          <a:xfrm>
            <a:off x="640080" y="1371600"/>
            <a:ext cx="384048" cy="384048"/>
          </a:xfrm>
          <a:prstGeom prst="ellipse">
            <a:avLst/>
          </a:prstGeom>
          <a:solidFill>
            <a:srgbClr val="2F5496"/>
          </a:solidFill>
          <a:ln w="12700">
            <a:solidFill>
              <a:srgbClr val="2F5496"/>
            </a:solidFill>
            <a:prstDash val="solid"/>
          </a:ln>
        </p:spPr>
      </p:sp>
      <p:sp>
        <p:nvSpPr>
          <p:cNvPr id="6" name="Text 3"/>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640080" y="1828800"/>
            <a:ext cx="2286000" cy="457200"/>
          </a:xfrm>
          <a:prstGeom prst="rect">
            <a:avLst/>
          </a:prstGeom>
          <a:noFill/>
          <a:ln/>
        </p:spPr>
        <p:txBody>
          <a:bodyPr wrap="square" lIns="0" tIns="0" rIns="0" bIns="0" rtlCol="0" anchor="ctr"/>
          <a:lstStyle/>
          <a:p>
            <a:pPr indent="0" marL="0">
              <a:buNone/>
            </a:pPr>
            <a:r>
              <a:rPr lang="en-US" sz="1600" b="1" dirty="0">
                <a:solidFill>
                  <a:srgbClr val="1F3864"/>
                </a:solidFill>
              </a:rPr>
              <a:t>Headers and identity</a:t>
            </a:r>
            <a:endParaRPr lang="en-US" sz="1600" dirty="0"/>
          </a:p>
        </p:txBody>
      </p:sp>
      <p:sp>
        <p:nvSpPr>
          <p:cNvPr id="8" name="m1"/>
          <p:cNvSpPr/>
          <p:nvPr/>
        </p:nvSpPr>
        <p:spPr>
          <a:xfrm>
            <a:off x="3291840" y="1188720"/>
            <a:ext cx="2651760" cy="1280160"/>
          </a:xfrm>
          <a:prstGeom prst="roundRect">
            <a:avLst>
              <a:gd name="adj" fmla="val 7143"/>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9" name="num2"/>
          <p:cNvSpPr/>
          <p:nvPr/>
        </p:nvSpPr>
        <p:spPr>
          <a:xfrm>
            <a:off x="3474720" y="1371600"/>
            <a:ext cx="384048" cy="384048"/>
          </a:xfrm>
          <a:prstGeom prst="ellipse">
            <a:avLst/>
          </a:prstGeom>
          <a:solidFill>
            <a:srgbClr val="2F5496"/>
          </a:solidFill>
          <a:ln w="12700">
            <a:solidFill>
              <a:srgbClr val="2F5496"/>
            </a:solidFill>
            <a:prstDash val="solid"/>
          </a:ln>
        </p:spPr>
      </p:sp>
      <p:sp>
        <p:nvSpPr>
          <p:cNvPr id="10" name="Text 7"/>
          <p:cNvSpPr txBox="1"/>
          <p:nvPr/>
        </p:nvSpPr>
        <p:spPr>
          <a:xfrm>
            <a:off x="347472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3474720" y="1828800"/>
            <a:ext cx="2286000" cy="457200"/>
          </a:xfrm>
          <a:prstGeom prst="rect">
            <a:avLst/>
          </a:prstGeom>
          <a:noFill/>
          <a:ln/>
        </p:spPr>
        <p:txBody>
          <a:bodyPr wrap="square" lIns="0" tIns="0" rIns="0" bIns="0" rtlCol="0" anchor="ctr"/>
          <a:lstStyle/>
          <a:p>
            <a:pPr indent="0" marL="0">
              <a:buNone/>
            </a:pPr>
            <a:r>
              <a:rPr lang="en-US" sz="1600" b="1" dirty="0">
                <a:solidFill>
                  <a:srgbClr val="1F3864"/>
                </a:solidFill>
              </a:rPr>
              <a:t>Received chain</a:t>
            </a:r>
            <a:endParaRPr lang="en-US" sz="1600" dirty="0"/>
          </a:p>
        </p:txBody>
      </p:sp>
      <p:sp>
        <p:nvSpPr>
          <p:cNvPr id="12" name="m2"/>
          <p:cNvSpPr/>
          <p:nvPr/>
        </p:nvSpPr>
        <p:spPr>
          <a:xfrm>
            <a:off x="6126480" y="1188720"/>
            <a:ext cx="2651760" cy="1280160"/>
          </a:xfrm>
          <a:prstGeom prst="roundRect">
            <a:avLst>
              <a:gd name="adj" fmla="val 7143"/>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3" name="num3"/>
          <p:cNvSpPr/>
          <p:nvPr/>
        </p:nvSpPr>
        <p:spPr>
          <a:xfrm>
            <a:off x="6309360" y="1371600"/>
            <a:ext cx="384048" cy="384048"/>
          </a:xfrm>
          <a:prstGeom prst="ellipse">
            <a:avLst/>
          </a:prstGeom>
          <a:solidFill>
            <a:srgbClr val="2F5496"/>
          </a:solidFill>
          <a:ln w="12700">
            <a:solidFill>
              <a:srgbClr val="2F5496"/>
            </a:solidFill>
            <a:prstDash val="solid"/>
          </a:ln>
        </p:spPr>
      </p:sp>
      <p:sp>
        <p:nvSpPr>
          <p:cNvPr id="14" name="Text 11"/>
          <p:cNvSpPr txBox="1"/>
          <p:nvPr/>
        </p:nvSpPr>
        <p:spPr>
          <a:xfrm>
            <a:off x="630936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6309360" y="1828800"/>
            <a:ext cx="2286000" cy="457200"/>
          </a:xfrm>
          <a:prstGeom prst="rect">
            <a:avLst/>
          </a:prstGeom>
          <a:noFill/>
          <a:ln/>
        </p:spPr>
        <p:txBody>
          <a:bodyPr wrap="square" lIns="0" tIns="0" rIns="0" bIns="0" rtlCol="0" anchor="ctr"/>
          <a:lstStyle/>
          <a:p>
            <a:pPr indent="0" marL="0">
              <a:buNone/>
            </a:pPr>
            <a:r>
              <a:rPr lang="en-US" sz="1600" b="1" dirty="0">
                <a:solidFill>
                  <a:srgbClr val="1F3864"/>
                </a:solidFill>
              </a:rPr>
              <a:t>SPF, DKIM, DMARC</a:t>
            </a:r>
            <a:endParaRPr lang="en-US" sz="1600" dirty="0"/>
          </a:p>
        </p:txBody>
      </p:sp>
      <p:sp>
        <p:nvSpPr>
          <p:cNvPr id="16" name="m3"/>
          <p:cNvSpPr/>
          <p:nvPr/>
        </p:nvSpPr>
        <p:spPr>
          <a:xfrm>
            <a:off x="457200" y="2743200"/>
            <a:ext cx="2651760" cy="1280160"/>
          </a:xfrm>
          <a:prstGeom prst="roundRect">
            <a:avLst>
              <a:gd name="adj" fmla="val 7143"/>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7" name="num4"/>
          <p:cNvSpPr/>
          <p:nvPr/>
        </p:nvSpPr>
        <p:spPr>
          <a:xfrm>
            <a:off x="640080" y="2926080"/>
            <a:ext cx="384048" cy="384048"/>
          </a:xfrm>
          <a:prstGeom prst="ellipse">
            <a:avLst/>
          </a:prstGeom>
          <a:solidFill>
            <a:srgbClr val="2F5496"/>
          </a:solidFill>
          <a:ln w="12700">
            <a:solidFill>
              <a:srgbClr val="2F5496"/>
            </a:solidFill>
            <a:prstDash val="solid"/>
          </a:ln>
        </p:spPr>
      </p:sp>
      <p:sp>
        <p:nvSpPr>
          <p:cNvPr id="18" name="Text 15"/>
          <p:cNvSpPr txBox="1"/>
          <p:nvPr/>
        </p:nvSpPr>
        <p:spPr>
          <a:xfrm>
            <a:off x="640080" y="2926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640080" y="3383280"/>
            <a:ext cx="2286000" cy="457200"/>
          </a:xfrm>
          <a:prstGeom prst="rect">
            <a:avLst/>
          </a:prstGeom>
          <a:noFill/>
          <a:ln/>
        </p:spPr>
        <p:txBody>
          <a:bodyPr wrap="square" lIns="0" tIns="0" rIns="0" bIns="0" rtlCol="0" anchor="ctr"/>
          <a:lstStyle/>
          <a:p>
            <a:pPr indent="0" marL="0">
              <a:buNone/>
            </a:pPr>
            <a:r>
              <a:rPr lang="en-US" sz="1600" b="1" dirty="0">
                <a:solidFill>
                  <a:srgbClr val="1F3864"/>
                </a:solidFill>
              </a:rPr>
              <a:t>Content and lure</a:t>
            </a:r>
            <a:endParaRPr lang="en-US" sz="1600" dirty="0"/>
          </a:p>
        </p:txBody>
      </p:sp>
      <p:sp>
        <p:nvSpPr>
          <p:cNvPr id="20" name="m4"/>
          <p:cNvSpPr/>
          <p:nvPr/>
        </p:nvSpPr>
        <p:spPr>
          <a:xfrm>
            <a:off x="3291840" y="2743200"/>
            <a:ext cx="2651760" cy="1280160"/>
          </a:xfrm>
          <a:prstGeom prst="roundRect">
            <a:avLst>
              <a:gd name="adj" fmla="val 7143"/>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21" name="num5"/>
          <p:cNvSpPr/>
          <p:nvPr/>
        </p:nvSpPr>
        <p:spPr>
          <a:xfrm>
            <a:off x="3474720" y="2926080"/>
            <a:ext cx="384048" cy="384048"/>
          </a:xfrm>
          <a:prstGeom prst="ellipse">
            <a:avLst/>
          </a:prstGeom>
          <a:solidFill>
            <a:srgbClr val="2F5496"/>
          </a:solidFill>
          <a:ln w="12700">
            <a:solidFill>
              <a:srgbClr val="2F5496"/>
            </a:solidFill>
            <a:prstDash val="solid"/>
          </a:ln>
        </p:spPr>
      </p:sp>
      <p:sp>
        <p:nvSpPr>
          <p:cNvPr id="22" name="Text 19"/>
          <p:cNvSpPr txBox="1"/>
          <p:nvPr/>
        </p:nvSpPr>
        <p:spPr>
          <a:xfrm>
            <a:off x="3474720" y="2926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3474720" y="3383280"/>
            <a:ext cx="2286000" cy="457200"/>
          </a:xfrm>
          <a:prstGeom prst="rect">
            <a:avLst/>
          </a:prstGeom>
          <a:noFill/>
          <a:ln/>
        </p:spPr>
        <p:txBody>
          <a:bodyPr wrap="square" lIns="0" tIns="0" rIns="0" bIns="0" rtlCol="0" anchor="ctr"/>
          <a:lstStyle/>
          <a:p>
            <a:pPr indent="0" marL="0">
              <a:buNone/>
            </a:pPr>
            <a:r>
              <a:rPr lang="en-US" sz="1600" b="1" dirty="0">
                <a:solidFill>
                  <a:srgbClr val="1F3864"/>
                </a:solidFill>
              </a:rPr>
              <a:t>Attachment decode</a:t>
            </a:r>
            <a:endParaRPr lang="en-US" sz="1600" dirty="0"/>
          </a:p>
        </p:txBody>
      </p:sp>
      <p:sp>
        <p:nvSpPr>
          <p:cNvPr id="24" name="m5"/>
          <p:cNvSpPr/>
          <p:nvPr/>
        </p:nvSpPr>
        <p:spPr>
          <a:xfrm>
            <a:off x="6126480" y="2743200"/>
            <a:ext cx="2651760" cy="1280160"/>
          </a:xfrm>
          <a:prstGeom prst="roundRect">
            <a:avLst>
              <a:gd name="adj" fmla="val 7143"/>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25" name="num6"/>
          <p:cNvSpPr/>
          <p:nvPr/>
        </p:nvSpPr>
        <p:spPr>
          <a:xfrm>
            <a:off x="6309360" y="2926080"/>
            <a:ext cx="384048" cy="384048"/>
          </a:xfrm>
          <a:prstGeom prst="ellipse">
            <a:avLst/>
          </a:prstGeom>
          <a:solidFill>
            <a:srgbClr val="2F5496"/>
          </a:solidFill>
          <a:ln w="12700">
            <a:solidFill>
              <a:srgbClr val="2F5496"/>
            </a:solidFill>
            <a:prstDash val="solid"/>
          </a:ln>
        </p:spPr>
      </p:sp>
      <p:sp>
        <p:nvSpPr>
          <p:cNvPr id="26" name="Text 23"/>
          <p:cNvSpPr txBox="1"/>
          <p:nvPr/>
        </p:nvSpPr>
        <p:spPr>
          <a:xfrm>
            <a:off x="6309360" y="2926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7" name="Text 24"/>
          <p:cNvSpPr txBox="1"/>
          <p:nvPr/>
        </p:nvSpPr>
        <p:spPr>
          <a:xfrm>
            <a:off x="6309360" y="3383280"/>
            <a:ext cx="2286000" cy="457200"/>
          </a:xfrm>
          <a:prstGeom prst="rect">
            <a:avLst/>
          </a:prstGeom>
          <a:noFill/>
          <a:ln/>
        </p:spPr>
        <p:txBody>
          <a:bodyPr wrap="square" lIns="0" tIns="0" rIns="0" bIns="0" rtlCol="0" anchor="ctr"/>
          <a:lstStyle/>
          <a:p>
            <a:pPr indent="0" marL="0">
              <a:buNone/>
            </a:pPr>
            <a:r>
              <a:rPr lang="en-US" sz="1600" b="1" dirty="0">
                <a:solidFill>
                  <a:srgbClr val="1F3864"/>
                </a:solidFill>
              </a:rPr>
              <a:t>IOC enrichment</a:t>
            </a:r>
            <a:endParaRPr lang="en-US" sz="1600" dirty="0"/>
          </a:p>
        </p:txBody>
      </p:sp>
      <p:sp>
        <p:nvSpPr>
          <p:cNvPr id="28" name="Text 25"/>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400" i="1" dirty="0">
                <a:solidFill>
                  <a:srgbClr val="595959"/>
                </a:solidFill>
              </a:rPr>
              <a:t>Static analysis only: nothing was executed.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Case 1: invoice fraud (Email 2), CRITICAL</a:t>
            </a:r>
            <a:endParaRPr lang="en-US" sz="2800" dirty="0"/>
          </a:p>
        </p:txBody>
      </p:sp>
      <p:sp>
        <p:nvSpPr>
          <p:cNvPr id="4" name="Text 1"/>
          <p:cNvSpPr txBox="1"/>
          <p:nvPr/>
        </p:nvSpPr>
        <p:spPr>
          <a:xfrm>
            <a:off x="457200" y="1051560"/>
            <a:ext cx="3840480" cy="822960"/>
          </a:xfrm>
          <a:prstGeom prst="rect">
            <a:avLst/>
          </a:prstGeom>
          <a:noFill/>
          <a:ln/>
        </p:spPr>
        <p:txBody>
          <a:bodyPr wrap="square" lIns="0" tIns="0" rIns="0" bIns="0" rtlCol="0" anchor="ctr"/>
          <a:lstStyle/>
          <a:p>
            <a:pPr indent="0" marL="0">
              <a:buNone/>
            </a:pPr>
            <a:r>
              <a:rPr lang="en-US" sz="5400" b="1" dirty="0">
                <a:solidFill>
                  <a:srgbClr val="C00000"/>
                </a:solidFill>
                <a:latin typeface="Cambria" pitchFamily="34" charset="0"/>
                <a:ea typeface="Cambria" pitchFamily="34" charset="-122"/>
                <a:cs typeface="Cambria" pitchFamily="34" charset="-120"/>
              </a:rPr>
              <a:t>$47,250</a:t>
            </a:r>
            <a:endParaRPr lang="en-US" sz="5400" dirty="0"/>
          </a:p>
        </p:txBody>
      </p:sp>
      <p:sp>
        <p:nvSpPr>
          <p:cNvPr id="5" name="Text 2"/>
          <p:cNvSpPr txBox="1"/>
          <p:nvPr/>
        </p:nvSpPr>
        <p:spPr>
          <a:xfrm>
            <a:off x="457200" y="1874520"/>
            <a:ext cx="3840480" cy="457200"/>
          </a:xfrm>
          <a:prstGeom prst="rect">
            <a:avLst/>
          </a:prstGeom>
          <a:noFill/>
          <a:ln/>
        </p:spPr>
        <p:txBody>
          <a:bodyPr wrap="square" lIns="0" tIns="0" rIns="0" bIns="0" rtlCol="0" anchor="ctr"/>
          <a:lstStyle/>
          <a:p>
            <a:pPr indent="0" marL="0">
              <a:buNone/>
            </a:pPr>
            <a:r>
              <a:rPr lang="en-US" sz="1400" dirty="0">
                <a:solidFill>
                  <a:srgbClr val="595959"/>
                </a:solidFill>
              </a:rPr>
              <a:t>requested by 22 April 2026 to a new Latvian account</a:t>
            </a:r>
            <a:endParaRPr lang="en-US" sz="1400" dirty="0"/>
          </a:p>
        </p:txBody>
      </p:sp>
      <p:sp>
        <p:nvSpPr>
          <p:cNvPr id="6" name="Text 3"/>
          <p:cNvSpPr txBox="1"/>
          <p:nvPr/>
        </p:nvSpPr>
        <p:spPr>
          <a:xfrm>
            <a:off x="457200" y="2468880"/>
            <a:ext cx="38404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Reply-To is fast-invoice-send[.]ru, not the supplier</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IBAN, BIC and phone fail format checks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SPF, DKIM, DMARC failed; DKIM is a placeholder</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First action: confirm no payment was made</a:t>
            </a:r>
            <a:endParaRPr lang="en-US" sz="1400" dirty="0"/>
          </a:p>
        </p:txBody>
      </p:sp>
      <p:pic>
        <p:nvPicPr>
          <p:cNvPr id="7" name="figE2-18" descr="Email 2 HTML banking box">    </p:cNvPr>
          <p:cNvPicPr>
            <a:picLocks noChangeAspect="1"/>
          </p:cNvPicPr>
          <p:nvPr/>
        </p:nvPicPr>
        <p:blipFill>
          <a:blip r:embed="rId1"/>
          <a:stretch>
            <a:fillRect/>
          </a:stretch>
        </p:blipFill>
        <p:spPr>
          <a:xfrm>
            <a:off x="4572000" y="1097598"/>
            <a:ext cx="4114800" cy="3016884"/>
          </a:xfrm>
          <a:prstGeom prst="rect">
            <a:avLst/>
          </a:prstGeom>
        </p:spPr>
      </p:pic>
      <p:sp>
        <p:nvSpPr>
          <p:cNvPr id="8" name="Text 4"/>
          <p:cNvSpPr txBox="1"/>
          <p:nvPr/>
        </p:nvSpPr>
        <p:spPr>
          <a:xfrm>
            <a:off x="4572000" y="4206240"/>
            <a:ext cx="4114800" cy="274320"/>
          </a:xfrm>
          <a:prstGeom prst="rect">
            <a:avLst/>
          </a:prstGeom>
          <a:noFill/>
          <a:ln/>
        </p:spPr>
        <p:txBody>
          <a:bodyPr wrap="square" lIns="0" tIns="0" rIns="0" bIns="0" rtlCol="0" anchor="ctr"/>
          <a:lstStyle/>
          <a:p>
            <a:pPr indent="0" marL="0">
              <a:buNone/>
            </a:pPr>
            <a:r>
              <a:rPr lang="en-US" sz="1000" dirty="0">
                <a:solidFill>
                  <a:srgbClr val="595959"/>
                </a:solidFill>
              </a:rPr>
              <a:t>Figure E2-18. Updated banking details box in the email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Cases 2 to 4: Emails 5, 1 and 4</a:t>
            </a:r>
            <a:endParaRPr lang="en-US" sz="2800" dirty="0"/>
          </a:p>
        </p:txBody>
      </p:sp>
      <p:sp>
        <p:nvSpPr>
          <p:cNvPr id="4" name="case0"/>
          <p:cNvSpPr/>
          <p:nvPr/>
        </p:nvSpPr>
        <p:spPr>
          <a:xfrm>
            <a:off x="457200" y="1051560"/>
            <a:ext cx="2651760" cy="3520440"/>
          </a:xfrm>
          <a:prstGeom prst="roundRect">
            <a:avLst>
              <a:gd name="adj" fmla="val 3448"/>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94360" y="1143000"/>
            <a:ext cx="2377440" cy="365760"/>
          </a:xfrm>
          <a:prstGeom prst="rect">
            <a:avLst/>
          </a:prstGeom>
          <a:noFill/>
          <a:ln/>
        </p:spPr>
        <p:txBody>
          <a:bodyPr wrap="square" lIns="0" tIns="0" rIns="0" bIns="0" rtlCol="0" anchor="ctr"/>
          <a:lstStyle/>
          <a:p>
            <a:pPr indent="0" marL="0">
              <a:buNone/>
            </a:pPr>
            <a:r>
              <a:rPr lang="en-US" sz="1600" b="1" dirty="0">
                <a:solidFill>
                  <a:srgbClr val="1F3864"/>
                </a:solidFill>
              </a:rPr>
              <a:t>Email 5: Bank of America</a:t>
            </a:r>
            <a:endParaRPr lang="en-US" sz="1600" dirty="0"/>
          </a:p>
        </p:txBody>
      </p:sp>
      <p:sp>
        <p:nvSpPr>
          <p:cNvPr id="6" name="chip HIGH"/>
          <p:cNvSpPr/>
          <p:nvPr/>
        </p:nvSpPr>
        <p:spPr>
          <a:xfrm>
            <a:off x="594360" y="1554480"/>
            <a:ext cx="1005840" cy="274320"/>
          </a:xfrm>
          <a:prstGeom prst="roundRect">
            <a:avLst>
              <a:gd name="adj" fmla="val 26667"/>
            </a:avLst>
          </a:prstGeom>
          <a:solidFill>
            <a:srgbClr val="E69F00"/>
          </a:solidFill>
          <a:ln w="12700">
            <a:solidFill>
              <a:srgbClr val="E69F00"/>
            </a:solidFill>
            <a:prstDash val="solid"/>
          </a:ln>
        </p:spPr>
      </p:sp>
      <p:sp>
        <p:nvSpPr>
          <p:cNvPr id="7" name="Text 4"/>
          <p:cNvSpPr txBox="1"/>
          <p:nvPr/>
        </p:nvSpPr>
        <p:spPr>
          <a:xfrm>
            <a:off x="594360" y="1554480"/>
            <a:ext cx="1005840" cy="274320"/>
          </a:xfrm>
          <a:prstGeom prst="rect">
            <a:avLst/>
          </a:prstGeom>
          <a:noFill/>
          <a:ln/>
        </p:spPr>
        <p:txBody>
          <a:bodyPr wrap="square" lIns="0" tIns="0" rIns="0" bIns="0" rtlCol="0" anchor="ctr"/>
          <a:lstStyle/>
          <a:p>
            <a:pPr algn="ctr" indent="0" marL="0">
              <a:buNone/>
            </a:pPr>
            <a:r>
              <a:rPr lang="en-US" sz="1100" b="1" dirty="0">
                <a:solidFill>
                  <a:srgbClr val="FFFFFF"/>
                </a:solidFill>
              </a:rPr>
              <a:t>HIGH</a:t>
            </a:r>
            <a:endParaRPr lang="en-US" sz="1100" dirty="0"/>
          </a:p>
        </p:txBody>
      </p:sp>
      <p:sp>
        <p:nvSpPr>
          <p:cNvPr id="8" name="Text 5"/>
          <p:cNvSpPr txBox="1"/>
          <p:nvPr/>
        </p:nvSpPr>
        <p:spPr>
          <a:xfrm>
            <a:off x="594360" y="1920240"/>
            <a:ext cx="2377440" cy="548640"/>
          </a:xfrm>
          <a:prstGeom prst="rect">
            <a:avLst/>
          </a:prstGeom>
          <a:noFill/>
          <a:ln/>
        </p:spPr>
        <p:txBody>
          <a:bodyPr wrap="square" lIns="0" tIns="0" rIns="0" bIns="0" rtlCol="0" anchor="t"/>
          <a:lstStyle/>
          <a:p>
            <a:pPr indent="0" marL="0">
              <a:buNone/>
            </a:pPr>
            <a:r>
              <a:rPr lang="en-US" sz="1300" dirty="0">
                <a:solidFill>
                  <a:srgbClr val="1B1F2A"/>
                </a:solidFill>
              </a:rPr>
              <a:t>Reset link on secure-boa-alerts[.]cc</a:t>
            </a:r>
            <a:endParaRPr lang="en-US" sz="1300" dirty="0"/>
          </a:p>
        </p:txBody>
      </p:sp>
      <p:pic>
        <p:nvPicPr>
          <p:cNvPr id="9" name="figE5-04" descr="Screenshot E5-04">    </p:cNvPr>
          <p:cNvPicPr>
            <a:picLocks noChangeAspect="1"/>
          </p:cNvPicPr>
          <p:nvPr/>
        </p:nvPicPr>
        <p:blipFill>
          <a:blip r:embed="rId1"/>
          <a:stretch>
            <a:fillRect/>
          </a:stretch>
        </p:blipFill>
        <p:spPr>
          <a:xfrm>
            <a:off x="594360" y="2759333"/>
            <a:ext cx="2377440" cy="1156455"/>
          </a:xfrm>
          <a:prstGeom prst="rect">
            <a:avLst/>
          </a:prstGeom>
        </p:spPr>
      </p:pic>
      <p:sp>
        <p:nvSpPr>
          <p:cNvPr id="10" name="Text 6"/>
          <p:cNvSpPr txBox="1"/>
          <p:nvPr/>
        </p:nvSpPr>
        <p:spPr>
          <a:xfrm>
            <a:off x="594360" y="4206240"/>
            <a:ext cx="2377440" cy="274320"/>
          </a:xfrm>
          <a:prstGeom prst="rect">
            <a:avLst/>
          </a:prstGeom>
          <a:noFill/>
          <a:ln/>
        </p:spPr>
        <p:txBody>
          <a:bodyPr wrap="square" lIns="0" tIns="0" rIns="0" bIns="0" rtlCol="0" anchor="ctr"/>
          <a:lstStyle/>
          <a:p>
            <a:pPr indent="0" marL="0">
              <a:buNone/>
            </a:pPr>
            <a:r>
              <a:rPr lang="en-US" sz="1000" dirty="0">
                <a:solidFill>
                  <a:srgbClr val="595959"/>
                </a:solidFill>
              </a:rPr>
              <a:t>Figure E5-04</a:t>
            </a:r>
            <a:endParaRPr lang="en-US" sz="1000" dirty="0"/>
          </a:p>
        </p:txBody>
      </p:sp>
      <p:sp>
        <p:nvSpPr>
          <p:cNvPr id="11" name="case1"/>
          <p:cNvSpPr/>
          <p:nvPr/>
        </p:nvSpPr>
        <p:spPr>
          <a:xfrm>
            <a:off x="3291840" y="1051560"/>
            <a:ext cx="2651760" cy="3520440"/>
          </a:xfrm>
          <a:prstGeom prst="roundRect">
            <a:avLst>
              <a:gd name="adj" fmla="val 3448"/>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2" name="Text 8"/>
          <p:cNvSpPr txBox="1"/>
          <p:nvPr/>
        </p:nvSpPr>
        <p:spPr>
          <a:xfrm>
            <a:off x="3429000" y="1143000"/>
            <a:ext cx="2377440" cy="365760"/>
          </a:xfrm>
          <a:prstGeom prst="rect">
            <a:avLst/>
          </a:prstGeom>
          <a:noFill/>
          <a:ln/>
        </p:spPr>
        <p:txBody>
          <a:bodyPr wrap="square" lIns="0" tIns="0" rIns="0" bIns="0" rtlCol="0" anchor="ctr"/>
          <a:lstStyle/>
          <a:p>
            <a:pPr indent="0" marL="0">
              <a:buNone/>
            </a:pPr>
            <a:r>
              <a:rPr lang="en-US" sz="1600" b="1" dirty="0">
                <a:solidFill>
                  <a:srgbClr val="1F3864"/>
                </a:solidFill>
              </a:rPr>
              <a:t>Email 1: Microsoft</a:t>
            </a:r>
            <a:endParaRPr lang="en-US" sz="1600" dirty="0"/>
          </a:p>
        </p:txBody>
      </p:sp>
      <p:sp>
        <p:nvSpPr>
          <p:cNvPr id="13" name="chip HIGH"/>
          <p:cNvSpPr/>
          <p:nvPr/>
        </p:nvSpPr>
        <p:spPr>
          <a:xfrm>
            <a:off x="3429000" y="1554480"/>
            <a:ext cx="1005840" cy="274320"/>
          </a:xfrm>
          <a:prstGeom prst="roundRect">
            <a:avLst>
              <a:gd name="adj" fmla="val 26667"/>
            </a:avLst>
          </a:prstGeom>
          <a:solidFill>
            <a:srgbClr val="E69F00"/>
          </a:solidFill>
          <a:ln w="12700">
            <a:solidFill>
              <a:srgbClr val="E69F00"/>
            </a:solidFill>
            <a:prstDash val="solid"/>
          </a:ln>
        </p:spPr>
      </p:sp>
      <p:sp>
        <p:nvSpPr>
          <p:cNvPr id="14" name="Text 10"/>
          <p:cNvSpPr txBox="1"/>
          <p:nvPr/>
        </p:nvSpPr>
        <p:spPr>
          <a:xfrm>
            <a:off x="3429000" y="1554480"/>
            <a:ext cx="1005840" cy="274320"/>
          </a:xfrm>
          <a:prstGeom prst="rect">
            <a:avLst/>
          </a:prstGeom>
          <a:noFill/>
          <a:ln/>
        </p:spPr>
        <p:txBody>
          <a:bodyPr wrap="square" lIns="0" tIns="0" rIns="0" bIns="0" rtlCol="0" anchor="ctr"/>
          <a:lstStyle/>
          <a:p>
            <a:pPr algn="ctr" indent="0" marL="0">
              <a:buNone/>
            </a:pPr>
            <a:r>
              <a:rPr lang="en-US" sz="1100" b="1" dirty="0">
                <a:solidFill>
                  <a:srgbClr val="FFFFFF"/>
                </a:solidFill>
              </a:rPr>
              <a:t>HIGH</a:t>
            </a:r>
            <a:endParaRPr lang="en-US" sz="1100" dirty="0"/>
          </a:p>
        </p:txBody>
      </p:sp>
      <p:sp>
        <p:nvSpPr>
          <p:cNvPr id="15" name="Text 11"/>
          <p:cNvSpPr txBox="1"/>
          <p:nvPr/>
        </p:nvSpPr>
        <p:spPr>
          <a:xfrm>
            <a:off x="3429000" y="1920240"/>
            <a:ext cx="2377440" cy="548640"/>
          </a:xfrm>
          <a:prstGeom prst="rect">
            <a:avLst/>
          </a:prstGeom>
          <a:noFill/>
          <a:ln/>
        </p:spPr>
        <p:txBody>
          <a:bodyPr wrap="square" lIns="0" tIns="0" rIns="0" bIns="0" rtlCol="0" anchor="t"/>
          <a:lstStyle/>
          <a:p>
            <a:pPr indent="0" marL="0">
              <a:buNone/>
            </a:pPr>
            <a:r>
              <a:rPr lang="en-US" sz="1300" dirty="0">
                <a:solidFill>
                  <a:srgbClr val="1B1F2A"/>
                </a:solidFill>
              </a:rPr>
              <a:t>Link on login-microsoft365-verify[.]top</a:t>
            </a:r>
            <a:endParaRPr lang="en-US" sz="1300" dirty="0"/>
          </a:p>
        </p:txBody>
      </p:sp>
      <p:pic>
        <p:nvPicPr>
          <p:cNvPr id="16" name="figE1-21" descr="Screenshot E1-21">    </p:cNvPr>
          <p:cNvPicPr>
            <a:picLocks noChangeAspect="1"/>
          </p:cNvPicPr>
          <p:nvPr/>
        </p:nvPicPr>
        <p:blipFill>
          <a:blip r:embed="rId2"/>
          <a:stretch>
            <a:fillRect/>
          </a:stretch>
        </p:blipFill>
        <p:spPr>
          <a:xfrm>
            <a:off x="3429000" y="2590580"/>
            <a:ext cx="2377440" cy="1493961"/>
          </a:xfrm>
          <a:prstGeom prst="rect">
            <a:avLst/>
          </a:prstGeom>
        </p:spPr>
      </p:pic>
      <p:sp>
        <p:nvSpPr>
          <p:cNvPr id="17" name="Text 12"/>
          <p:cNvSpPr txBox="1"/>
          <p:nvPr/>
        </p:nvSpPr>
        <p:spPr>
          <a:xfrm>
            <a:off x="3429000" y="4206240"/>
            <a:ext cx="2377440" cy="274320"/>
          </a:xfrm>
          <a:prstGeom prst="rect">
            <a:avLst/>
          </a:prstGeom>
          <a:noFill/>
          <a:ln/>
        </p:spPr>
        <p:txBody>
          <a:bodyPr wrap="square" lIns="0" tIns="0" rIns="0" bIns="0" rtlCol="0" anchor="ctr"/>
          <a:lstStyle/>
          <a:p>
            <a:pPr indent="0" marL="0">
              <a:buNone/>
            </a:pPr>
            <a:r>
              <a:rPr lang="en-US" sz="1000" dirty="0">
                <a:solidFill>
                  <a:srgbClr val="595959"/>
                </a:solidFill>
              </a:rPr>
              <a:t>Figure E1-21</a:t>
            </a:r>
            <a:endParaRPr lang="en-US" sz="1000" dirty="0"/>
          </a:p>
        </p:txBody>
      </p:sp>
      <p:sp>
        <p:nvSpPr>
          <p:cNvPr id="18" name="case2"/>
          <p:cNvSpPr/>
          <p:nvPr/>
        </p:nvSpPr>
        <p:spPr>
          <a:xfrm>
            <a:off x="6126480" y="1051560"/>
            <a:ext cx="2651760" cy="3520440"/>
          </a:xfrm>
          <a:prstGeom prst="roundRect">
            <a:avLst>
              <a:gd name="adj" fmla="val 3448"/>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6263640" y="1143000"/>
            <a:ext cx="2377440" cy="365760"/>
          </a:xfrm>
          <a:prstGeom prst="rect">
            <a:avLst/>
          </a:prstGeom>
          <a:noFill/>
          <a:ln/>
        </p:spPr>
        <p:txBody>
          <a:bodyPr wrap="square" lIns="0" tIns="0" rIns="0" bIns="0" rtlCol="0" anchor="ctr"/>
          <a:lstStyle/>
          <a:p>
            <a:pPr indent="0" marL="0">
              <a:buNone/>
            </a:pPr>
            <a:r>
              <a:rPr lang="en-US" sz="1600" b="1" dirty="0">
                <a:solidFill>
                  <a:srgbClr val="1F3864"/>
                </a:solidFill>
              </a:rPr>
              <a:t>Email 4: DHL</a:t>
            </a:r>
            <a:endParaRPr lang="en-US" sz="1600" dirty="0"/>
          </a:p>
        </p:txBody>
      </p:sp>
      <p:sp>
        <p:nvSpPr>
          <p:cNvPr id="20" name="chip MED-HIGH"/>
          <p:cNvSpPr/>
          <p:nvPr/>
        </p:nvSpPr>
        <p:spPr>
          <a:xfrm>
            <a:off x="6263640" y="1554480"/>
            <a:ext cx="1005840" cy="274320"/>
          </a:xfrm>
          <a:prstGeom prst="roundRect">
            <a:avLst>
              <a:gd name="adj" fmla="val 26667"/>
            </a:avLst>
          </a:prstGeom>
          <a:solidFill>
            <a:srgbClr val="2F5496"/>
          </a:solidFill>
          <a:ln w="12700">
            <a:solidFill>
              <a:srgbClr val="2F5496"/>
            </a:solidFill>
            <a:prstDash val="solid"/>
          </a:ln>
        </p:spPr>
      </p:sp>
      <p:sp>
        <p:nvSpPr>
          <p:cNvPr id="21" name="Text 16"/>
          <p:cNvSpPr txBox="1"/>
          <p:nvPr/>
        </p:nvSpPr>
        <p:spPr>
          <a:xfrm>
            <a:off x="6263640" y="1554480"/>
            <a:ext cx="1005840" cy="274320"/>
          </a:xfrm>
          <a:prstGeom prst="rect">
            <a:avLst/>
          </a:prstGeom>
          <a:noFill/>
          <a:ln/>
        </p:spPr>
        <p:txBody>
          <a:bodyPr wrap="square" lIns="0" tIns="0" rIns="0" bIns="0" rtlCol="0" anchor="ctr"/>
          <a:lstStyle/>
          <a:p>
            <a:pPr algn="ctr" indent="0" marL="0">
              <a:buNone/>
            </a:pPr>
            <a:r>
              <a:rPr lang="en-US" sz="1100" b="1" dirty="0">
                <a:solidFill>
                  <a:srgbClr val="FFFFFF"/>
                </a:solidFill>
              </a:rPr>
              <a:t>MED-HIGH</a:t>
            </a:r>
            <a:endParaRPr lang="en-US" sz="1100" dirty="0"/>
          </a:p>
        </p:txBody>
      </p:sp>
      <p:sp>
        <p:nvSpPr>
          <p:cNvPr id="22" name="Text 17"/>
          <p:cNvSpPr txBox="1"/>
          <p:nvPr/>
        </p:nvSpPr>
        <p:spPr>
          <a:xfrm>
            <a:off x="6263640" y="1920240"/>
            <a:ext cx="2377440" cy="548640"/>
          </a:xfrm>
          <a:prstGeom prst="rect">
            <a:avLst/>
          </a:prstGeom>
          <a:noFill/>
          <a:ln/>
        </p:spPr>
        <p:txBody>
          <a:bodyPr wrap="square" lIns="0" tIns="0" rIns="0" bIns="0" rtlCol="0" anchor="t"/>
          <a:lstStyle/>
          <a:p>
            <a:pPr indent="0" marL="0">
              <a:buNone/>
            </a:pPr>
            <a:r>
              <a:rPr lang="en-US" sz="1300" dirty="0">
                <a:solidFill>
                  <a:srgbClr val="1B1F2A"/>
                </a:solidFill>
              </a:rPr>
              <a:t>$2.99 fee; ZIP of about 160 bytes</a:t>
            </a:r>
            <a:endParaRPr lang="en-US" sz="1300" dirty="0"/>
          </a:p>
        </p:txBody>
      </p:sp>
      <p:pic>
        <p:nvPicPr>
          <p:cNvPr id="23" name="figE4-12" descr="Screenshot E4-12">    </p:cNvPr>
          <p:cNvPicPr>
            <a:picLocks noChangeAspect="1"/>
          </p:cNvPicPr>
          <p:nvPr/>
        </p:nvPicPr>
        <p:blipFill>
          <a:blip r:embed="rId3"/>
          <a:stretch>
            <a:fillRect/>
          </a:stretch>
        </p:blipFill>
        <p:spPr>
          <a:xfrm>
            <a:off x="6263640" y="3013710"/>
            <a:ext cx="2377440" cy="647700"/>
          </a:xfrm>
          <a:prstGeom prst="rect">
            <a:avLst/>
          </a:prstGeom>
        </p:spPr>
      </p:pic>
      <p:sp>
        <p:nvSpPr>
          <p:cNvPr id="24" name="Text 18"/>
          <p:cNvSpPr txBox="1"/>
          <p:nvPr/>
        </p:nvSpPr>
        <p:spPr>
          <a:xfrm>
            <a:off x="6263640" y="4206240"/>
            <a:ext cx="2377440" cy="274320"/>
          </a:xfrm>
          <a:prstGeom prst="rect">
            <a:avLst/>
          </a:prstGeom>
          <a:noFill/>
          <a:ln/>
        </p:spPr>
        <p:txBody>
          <a:bodyPr wrap="square" lIns="0" tIns="0" rIns="0" bIns="0" rtlCol="0" anchor="ctr"/>
          <a:lstStyle/>
          <a:p>
            <a:pPr indent="0" marL="0">
              <a:buNone/>
            </a:pPr>
            <a:r>
              <a:rPr lang="en-US" sz="1000" dirty="0">
                <a:solidFill>
                  <a:srgbClr val="595959"/>
                </a:solidFill>
              </a:rPr>
              <a:t>Figure E4-12</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IOC extraction and enrichment</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206240" cy="914400"/>
        </p:xfrm>
        <a:graphic>
          <a:graphicData uri="http://schemas.openxmlformats.org/drawingml/2006/table">
            <a:tbl>
              <a:tblPr/>
              <a:tblGrid>
                <a:gridCol w="1097280"/>
                <a:gridCol w="731520"/>
                <a:gridCol w="23774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Count</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Domains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fast-invoice-send[.]ru</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Public IPs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185.220.101.47</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URLs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hxxps://secure-boa-alerts[.]cc/…</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38404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Files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ShippingDocs_1928374650.zip</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bl>
          </a:graphicData>
        </a:graphic>
      </p:graphicFrame>
      <p:sp>
        <p:nvSpPr>
          <p:cNvPr id="5" name="Text 1"/>
          <p:cNvSpPr txBox="1"/>
          <p:nvPr/>
        </p:nvSpPr>
        <p:spPr>
          <a:xfrm>
            <a:off x="457200" y="3200400"/>
            <a:ext cx="420624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185.220.101.47: Tor exit, 100%, 6,846 reports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Flyservers and NUBES IPs: 0% on old reports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No hashes: originals not supplied</a:t>
            </a:r>
            <a:endParaRPr lang="en-US" sz="1400" dirty="0"/>
          </a:p>
        </p:txBody>
      </p:sp>
      <p:pic>
        <p:nvPicPr>
          <p:cNvPr id="6" name="figE1-01" descr="AbuseIPDB lookup for 185.220.101.47">    </p:cNvPr>
          <p:cNvPicPr>
            <a:picLocks noChangeAspect="1"/>
          </p:cNvPicPr>
          <p:nvPr/>
        </p:nvPicPr>
        <p:blipFill>
          <a:blip r:embed="rId1"/>
          <a:stretch>
            <a:fillRect/>
          </a:stretch>
        </p:blipFill>
        <p:spPr>
          <a:xfrm>
            <a:off x="4846320" y="1556116"/>
            <a:ext cx="3840480" cy="2008408"/>
          </a:xfrm>
          <a:prstGeom prst="rect">
            <a:avLst/>
          </a:prstGeom>
        </p:spPr>
      </p:pic>
      <p:sp>
        <p:nvSpPr>
          <p:cNvPr id="7" name="Text 2"/>
          <p:cNvSpPr txBox="1"/>
          <p:nvPr/>
        </p:nvSpPr>
        <p:spPr>
          <a:xfrm>
            <a:off x="4846320" y="4114800"/>
            <a:ext cx="3840480" cy="274320"/>
          </a:xfrm>
          <a:prstGeom prst="rect">
            <a:avLst/>
          </a:prstGeom>
          <a:noFill/>
          <a:ln/>
        </p:spPr>
        <p:txBody>
          <a:bodyPr wrap="square" lIns="0" tIns="0" rIns="0" bIns="0" rtlCol="0" anchor="ctr"/>
          <a:lstStyle/>
          <a:p>
            <a:pPr indent="0" marL="0">
              <a:buNone/>
            </a:pPr>
            <a:r>
              <a:rPr lang="en-US" sz="1000" dirty="0">
                <a:solidFill>
                  <a:srgbClr val="595959"/>
                </a:solidFill>
              </a:rPr>
              <a:t>Figure E1-01. AbuseIPDB lookup, 185.220.101.47</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Cross-case links</a:t>
            </a:r>
            <a:endParaRPr lang="en-US" sz="2800" dirty="0"/>
          </a:p>
        </p:txBody>
      </p:sp>
      <p:sp>
        <p:nvSpPr>
          <p:cNvPr id="4" name="Email 1"/>
          <p:cNvSpPr/>
          <p:nvPr/>
        </p:nvSpPr>
        <p:spPr>
          <a:xfrm>
            <a:off x="457200" y="1188720"/>
            <a:ext cx="2286000" cy="914400"/>
          </a:xfrm>
          <a:prstGeom prst="roundRect">
            <a:avLst>
              <a:gd name="adj" fmla="val 10000"/>
            </a:avLst>
          </a:prstGeom>
          <a:solidFill>
            <a:srgbClr val="2F5496"/>
          </a:solidFill>
          <a:ln w="12700">
            <a:solidFill>
              <a:srgbClr val="2F5496"/>
            </a:solidFill>
            <a:prstDash val="solid"/>
          </a:ln>
        </p:spPr>
      </p:sp>
      <p:sp>
        <p:nvSpPr>
          <p:cNvPr id="5" name="Text 2"/>
          <p:cNvSpPr txBox="1"/>
          <p:nvPr/>
        </p:nvSpPr>
        <p:spPr>
          <a:xfrm>
            <a:off x="457200" y="1188720"/>
            <a:ext cx="2286000" cy="914400"/>
          </a:xfrm>
          <a:prstGeom prst="rect">
            <a:avLst/>
          </a:prstGeom>
          <a:noFill/>
          <a:ln/>
        </p:spPr>
        <p:txBody>
          <a:bodyPr wrap="square" lIns="0" tIns="0" rIns="0" bIns="0" rtlCol="0" anchor="ctr"/>
          <a:lstStyle/>
          <a:p>
            <a:pPr algn="ctr" indent="0" marL="0">
              <a:buNone/>
            </a:pPr>
            <a:r>
              <a:rPr lang="en-US" sz="1600" b="1" dirty="0">
                <a:solidFill>
                  <a:srgbClr val="FFFFFF"/>
                </a:solidFill>
              </a:rPr>
              <a:t>Email 1</a:t>
            </a:r>
            <a:endParaRPr lang="en-US" sz="1600" dirty="0"/>
          </a:p>
          <a:p>
            <a:pPr algn="ctr" indent="0" marL="0">
              <a:buNone/>
            </a:pPr>
            <a:r>
              <a:rPr lang="en-US" sz="1300" dirty="0">
                <a:solidFill>
                  <a:srgbClr val="FFFFFF"/>
                </a:solidFill>
              </a:rPr>
              <a:t>Microsoft</a:t>
            </a:r>
            <a:endParaRPr lang="en-US" sz="1600" dirty="0"/>
          </a:p>
        </p:txBody>
      </p:sp>
      <p:sp>
        <p:nvSpPr>
          <p:cNvPr id="6" name="Email 5"/>
          <p:cNvSpPr/>
          <p:nvPr/>
        </p:nvSpPr>
        <p:spPr>
          <a:xfrm>
            <a:off x="6400800" y="1188720"/>
            <a:ext cx="2286000" cy="914400"/>
          </a:xfrm>
          <a:prstGeom prst="roundRect">
            <a:avLst>
              <a:gd name="adj" fmla="val 10000"/>
            </a:avLst>
          </a:prstGeom>
          <a:solidFill>
            <a:srgbClr val="2F5496"/>
          </a:solidFill>
          <a:ln w="12700">
            <a:solidFill>
              <a:srgbClr val="2F5496"/>
            </a:solidFill>
            <a:prstDash val="solid"/>
          </a:ln>
        </p:spPr>
      </p:sp>
      <p:sp>
        <p:nvSpPr>
          <p:cNvPr id="7" name="Text 4"/>
          <p:cNvSpPr txBox="1"/>
          <p:nvPr/>
        </p:nvSpPr>
        <p:spPr>
          <a:xfrm>
            <a:off x="6400800" y="1188720"/>
            <a:ext cx="2286000" cy="914400"/>
          </a:xfrm>
          <a:prstGeom prst="rect">
            <a:avLst/>
          </a:prstGeom>
          <a:noFill/>
          <a:ln/>
        </p:spPr>
        <p:txBody>
          <a:bodyPr wrap="square" lIns="0" tIns="0" rIns="0" bIns="0" rtlCol="0" anchor="ctr"/>
          <a:lstStyle/>
          <a:p>
            <a:pPr algn="ctr" indent="0" marL="0">
              <a:buNone/>
            </a:pPr>
            <a:r>
              <a:rPr lang="en-US" sz="1600" b="1" dirty="0">
                <a:solidFill>
                  <a:srgbClr val="FFFFFF"/>
                </a:solidFill>
              </a:rPr>
              <a:t>Email 5</a:t>
            </a:r>
            <a:endParaRPr lang="en-US" sz="1600" dirty="0"/>
          </a:p>
          <a:p>
            <a:pPr algn="ctr" indent="0" marL="0">
              <a:buNone/>
            </a:pPr>
            <a:r>
              <a:rPr lang="en-US" sz="1300" dirty="0">
                <a:solidFill>
                  <a:srgbClr val="FFFFFF"/>
                </a:solidFill>
              </a:rPr>
              <a:t>Bank of America</a:t>
            </a:r>
            <a:endParaRPr lang="en-US" sz="1600" dirty="0"/>
          </a:p>
        </p:txBody>
      </p:sp>
      <p:sp>
        <p:nvSpPr>
          <p:cNvPr id="8" name="arrow1"/>
          <p:cNvSpPr/>
          <p:nvPr/>
        </p:nvSpPr>
        <p:spPr>
          <a:xfrm>
            <a:off x="2743200" y="1463040"/>
            <a:ext cx="3657600" cy="0"/>
          </a:xfrm>
          <a:prstGeom prst="line">
            <a:avLst/>
          </a:prstGeom>
          <a:noFill/>
          <a:ln w="25400">
            <a:solidFill>
              <a:srgbClr val="C00000"/>
            </a:solidFill>
            <a:prstDash val="solid"/>
            <a:tailEnd type="triangle"/>
          </a:ln>
        </p:spPr>
      </p:sp>
      <p:sp>
        <p:nvSpPr>
          <p:cNvPr id="9" name="arrow2"/>
          <p:cNvSpPr/>
          <p:nvPr/>
        </p:nvSpPr>
        <p:spPr>
          <a:xfrm flipH="1">
            <a:off x="2743200" y="1828800"/>
            <a:ext cx="3657600" cy="0"/>
          </a:xfrm>
          <a:prstGeom prst="line">
            <a:avLst/>
          </a:prstGeom>
          <a:noFill/>
          <a:ln w="25400">
            <a:solidFill>
              <a:srgbClr val="E69F00"/>
            </a:solidFill>
            <a:prstDash val="solid"/>
            <a:tailEnd type="triangle"/>
          </a:ln>
        </p:spPr>
      </p:sp>
      <p:sp>
        <p:nvSpPr>
          <p:cNvPr id="10" name="Text 7"/>
          <p:cNvSpPr txBox="1"/>
          <p:nvPr/>
        </p:nvSpPr>
        <p:spPr>
          <a:xfrm>
            <a:off x="2743200" y="1097280"/>
            <a:ext cx="3657600" cy="320040"/>
          </a:xfrm>
          <a:prstGeom prst="rect">
            <a:avLst/>
          </a:prstGeom>
          <a:noFill/>
          <a:ln/>
        </p:spPr>
        <p:txBody>
          <a:bodyPr wrap="square" lIns="0" tIns="0" rIns="0" bIns="0" rtlCol="0" anchor="ctr"/>
          <a:lstStyle/>
          <a:p>
            <a:pPr algn="ctr" indent="0" marL="0">
              <a:buNone/>
            </a:pPr>
            <a:r>
              <a:rPr lang="en-US" sz="1100" dirty="0">
                <a:solidFill>
                  <a:srgbClr val="C00000"/>
                </a:solidFill>
              </a:rPr>
              <a:t>185.220.101.47: sender in E1, "attacker login" in E5</a:t>
            </a:r>
            <a:endParaRPr lang="en-US" sz="1100" dirty="0"/>
          </a:p>
        </p:txBody>
      </p:sp>
      <p:sp>
        <p:nvSpPr>
          <p:cNvPr id="11" name="Text 8"/>
          <p:cNvSpPr txBox="1"/>
          <p:nvPr/>
        </p:nvSpPr>
        <p:spPr>
          <a:xfrm>
            <a:off x="2743200" y="1920240"/>
            <a:ext cx="3657600" cy="320040"/>
          </a:xfrm>
          <a:prstGeom prst="rect">
            <a:avLst/>
          </a:prstGeom>
          <a:noFill/>
          <a:ln/>
        </p:spPr>
        <p:txBody>
          <a:bodyPr wrap="square" lIns="0" tIns="0" rIns="0" bIns="0" rtlCol="0" anchor="ctr"/>
          <a:lstStyle/>
          <a:p>
            <a:pPr algn="ctr" indent="0" marL="0">
              <a:buNone/>
            </a:pPr>
            <a:r>
              <a:rPr lang="en-US" sz="1100" dirty="0">
                <a:solidFill>
                  <a:srgbClr val="9A6A00"/>
                </a:solidFill>
              </a:rPr>
              <a:t>91.108.56.122: "sign-in" in E1, sender in E5</a:t>
            </a:r>
            <a:endParaRPr lang="en-US" sz="1100" dirty="0"/>
          </a:p>
        </p:txBody>
      </p:sp>
      <p:sp>
        <p:nvSpPr>
          <p:cNvPr id="12" name="Text 9"/>
          <p:cNvSpPr txBox="1"/>
          <p:nvPr/>
        </p:nvSpPr>
        <p:spPr>
          <a:xfrm>
            <a:off x="457200" y="2560320"/>
            <a:ext cx="822960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Same /24 receiving relays (10.114.72.133, .201, .205)</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Placeholder DKIM values and the same one-year timestamp shift</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Stub PNG attachments with a "gnome-screenshot" chunk</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Five-day window: one campaign or one data set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Wazuh detections (Part B)</a:t>
            </a:r>
            <a:endParaRPr lang="en-US" sz="2800" dirty="0"/>
          </a:p>
        </p:txBody>
      </p:sp>
      <p:sp>
        <p:nvSpPr>
          <p:cNvPr id="4" name="det0"/>
          <p:cNvSpPr/>
          <p:nvPr/>
        </p:nvSpPr>
        <p:spPr>
          <a:xfrm>
            <a:off x="457200" y="1051560"/>
            <a:ext cx="2651760" cy="3520440"/>
          </a:xfrm>
          <a:prstGeom prst="roundRect">
            <a:avLst>
              <a:gd name="adj" fmla="val 3448"/>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94360" y="1143000"/>
            <a:ext cx="2377440" cy="365760"/>
          </a:xfrm>
          <a:prstGeom prst="rect">
            <a:avLst/>
          </a:prstGeom>
          <a:noFill/>
          <a:ln/>
        </p:spPr>
        <p:txBody>
          <a:bodyPr wrap="square" lIns="0" tIns="0" rIns="0" bIns="0" rtlCol="0" anchor="ctr"/>
          <a:lstStyle/>
          <a:p>
            <a:pPr indent="0" marL="0">
              <a:buNone/>
            </a:pPr>
            <a:r>
              <a:rPr lang="en-US" sz="1600" b="1" dirty="0">
                <a:solidFill>
                  <a:srgbClr val="1F3864"/>
                </a:solidFill>
              </a:rPr>
              <a:t>Malware samples (FIM)</a:t>
            </a:r>
            <a:endParaRPr lang="en-US" sz="1600" dirty="0"/>
          </a:p>
        </p:txBody>
      </p:sp>
      <p:sp>
        <p:nvSpPr>
          <p:cNvPr id="6" name="chip PARTIAL"/>
          <p:cNvSpPr/>
          <p:nvPr/>
        </p:nvSpPr>
        <p:spPr>
          <a:xfrm>
            <a:off x="594360" y="1554480"/>
            <a:ext cx="1005840" cy="274320"/>
          </a:xfrm>
          <a:prstGeom prst="roundRect">
            <a:avLst>
              <a:gd name="adj" fmla="val 26667"/>
            </a:avLst>
          </a:prstGeom>
          <a:solidFill>
            <a:srgbClr val="E69F00"/>
          </a:solidFill>
          <a:ln w="12700">
            <a:solidFill>
              <a:srgbClr val="E69F00"/>
            </a:solidFill>
            <a:prstDash val="solid"/>
          </a:ln>
        </p:spPr>
      </p:sp>
      <p:sp>
        <p:nvSpPr>
          <p:cNvPr id="7" name="Text 4"/>
          <p:cNvSpPr txBox="1"/>
          <p:nvPr/>
        </p:nvSpPr>
        <p:spPr>
          <a:xfrm>
            <a:off x="594360" y="1554480"/>
            <a:ext cx="1005840" cy="274320"/>
          </a:xfrm>
          <a:prstGeom prst="rect">
            <a:avLst/>
          </a:prstGeom>
          <a:noFill/>
          <a:ln/>
        </p:spPr>
        <p:txBody>
          <a:bodyPr wrap="square" lIns="0" tIns="0" rIns="0" bIns="0" rtlCol="0" anchor="ctr"/>
          <a:lstStyle/>
          <a:p>
            <a:pPr algn="ctr" indent="0" marL="0">
              <a:buNone/>
            </a:pPr>
            <a:r>
              <a:rPr lang="en-US" sz="1100" b="1" dirty="0">
                <a:solidFill>
                  <a:srgbClr val="FFFFFF"/>
                </a:solidFill>
              </a:rPr>
              <a:t>PARTIAL</a:t>
            </a:r>
            <a:endParaRPr lang="en-US" sz="1100" dirty="0"/>
          </a:p>
        </p:txBody>
      </p:sp>
      <p:sp>
        <p:nvSpPr>
          <p:cNvPr id="8" name="Text 5"/>
          <p:cNvSpPr txBox="1"/>
          <p:nvPr/>
        </p:nvSpPr>
        <p:spPr>
          <a:xfrm>
            <a:off x="594360" y="1920240"/>
            <a:ext cx="2377440" cy="548640"/>
          </a:xfrm>
          <a:prstGeom prst="rect">
            <a:avLst/>
          </a:prstGeom>
          <a:noFill/>
          <a:ln/>
        </p:spPr>
        <p:txBody>
          <a:bodyPr wrap="square" lIns="0" tIns="0" rIns="0" bIns="0" rtlCol="0" anchor="t"/>
          <a:lstStyle/>
          <a:p>
            <a:pPr indent="0" marL="0">
              <a:buNone/>
            </a:pPr>
            <a:r>
              <a:rPr lang="en-US" sz="1300" dirty="0">
                <a:solidFill>
                  <a:srgbClr val="1B1F2A"/>
                </a:solidFill>
              </a:rPr>
              <a:t>Rule 100300, xbash grew to 9.5 MB</a:t>
            </a:r>
            <a:endParaRPr lang="en-US" sz="1300" dirty="0"/>
          </a:p>
        </p:txBody>
      </p:sp>
      <p:pic>
        <p:nvPicPr>
          <p:cNvPr id="9" name="figPB-51" descr="Screenshot PB-51">    </p:cNvPr>
          <p:cNvPicPr>
            <a:picLocks noChangeAspect="1"/>
          </p:cNvPicPr>
          <p:nvPr/>
        </p:nvPicPr>
        <p:blipFill>
          <a:blip r:embed="rId1"/>
          <a:stretch>
            <a:fillRect/>
          </a:stretch>
        </p:blipFill>
        <p:spPr>
          <a:xfrm>
            <a:off x="594360" y="2941320"/>
            <a:ext cx="2377440" cy="792480"/>
          </a:xfrm>
          <a:prstGeom prst="rect">
            <a:avLst/>
          </a:prstGeom>
        </p:spPr>
      </p:pic>
      <p:sp>
        <p:nvSpPr>
          <p:cNvPr id="10" name="Text 6"/>
          <p:cNvSpPr txBox="1"/>
          <p:nvPr/>
        </p:nvSpPr>
        <p:spPr>
          <a:xfrm>
            <a:off x="594360" y="4206240"/>
            <a:ext cx="2377440" cy="274320"/>
          </a:xfrm>
          <a:prstGeom prst="rect">
            <a:avLst/>
          </a:prstGeom>
          <a:noFill/>
          <a:ln/>
        </p:spPr>
        <p:txBody>
          <a:bodyPr wrap="square" lIns="0" tIns="0" rIns="0" bIns="0" rtlCol="0" anchor="ctr"/>
          <a:lstStyle/>
          <a:p>
            <a:pPr indent="0" marL="0">
              <a:buNone/>
            </a:pPr>
            <a:r>
              <a:rPr lang="en-US" sz="1000" dirty="0">
                <a:solidFill>
                  <a:srgbClr val="595959"/>
                </a:solidFill>
              </a:rPr>
              <a:t>Figure PB-51</a:t>
            </a:r>
            <a:endParaRPr lang="en-US" sz="1000" dirty="0"/>
          </a:p>
        </p:txBody>
      </p:sp>
      <p:sp>
        <p:nvSpPr>
          <p:cNvPr id="11" name="det1"/>
          <p:cNvSpPr/>
          <p:nvPr/>
        </p:nvSpPr>
        <p:spPr>
          <a:xfrm>
            <a:off x="3291840" y="1051560"/>
            <a:ext cx="2651760" cy="3520440"/>
          </a:xfrm>
          <a:prstGeom prst="roundRect">
            <a:avLst>
              <a:gd name="adj" fmla="val 3448"/>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2" name="Text 8"/>
          <p:cNvSpPr txBox="1"/>
          <p:nvPr/>
        </p:nvSpPr>
        <p:spPr>
          <a:xfrm>
            <a:off x="3429000" y="1143000"/>
            <a:ext cx="2377440" cy="365760"/>
          </a:xfrm>
          <a:prstGeom prst="rect">
            <a:avLst/>
          </a:prstGeom>
          <a:noFill/>
          <a:ln/>
        </p:spPr>
        <p:txBody>
          <a:bodyPr wrap="square" lIns="0" tIns="0" rIns="0" bIns="0" rtlCol="0" anchor="ctr"/>
          <a:lstStyle/>
          <a:p>
            <a:pPr indent="0" marL="0">
              <a:buNone/>
            </a:pPr>
            <a:r>
              <a:rPr lang="en-US" sz="1600" b="1" dirty="0">
                <a:solidFill>
                  <a:srgbClr val="1F3864"/>
                </a:solidFill>
              </a:rPr>
              <a:t>Trojaned binary</a:t>
            </a:r>
            <a:endParaRPr lang="en-US" sz="1600" dirty="0"/>
          </a:p>
        </p:txBody>
      </p:sp>
      <p:sp>
        <p:nvSpPr>
          <p:cNvPr id="13" name="chip VERIFIED"/>
          <p:cNvSpPr/>
          <p:nvPr/>
        </p:nvSpPr>
        <p:spPr>
          <a:xfrm>
            <a:off x="3429000" y="1554480"/>
            <a:ext cx="1005840" cy="274320"/>
          </a:xfrm>
          <a:prstGeom prst="roundRect">
            <a:avLst>
              <a:gd name="adj" fmla="val 26667"/>
            </a:avLst>
          </a:prstGeom>
          <a:solidFill>
            <a:srgbClr val="2E7D32"/>
          </a:solidFill>
          <a:ln w="12700">
            <a:solidFill>
              <a:srgbClr val="2E7D32"/>
            </a:solidFill>
            <a:prstDash val="solid"/>
          </a:ln>
        </p:spPr>
      </p:sp>
      <p:sp>
        <p:nvSpPr>
          <p:cNvPr id="14" name="Text 10"/>
          <p:cNvSpPr txBox="1"/>
          <p:nvPr/>
        </p:nvSpPr>
        <p:spPr>
          <a:xfrm>
            <a:off x="3429000" y="1554480"/>
            <a:ext cx="1005840" cy="274320"/>
          </a:xfrm>
          <a:prstGeom prst="rect">
            <a:avLst/>
          </a:prstGeom>
          <a:noFill/>
          <a:ln/>
        </p:spPr>
        <p:txBody>
          <a:bodyPr wrap="square" lIns="0" tIns="0" rIns="0" bIns="0" rtlCol="0" anchor="ctr"/>
          <a:lstStyle/>
          <a:p>
            <a:pPr algn="ctr" indent="0" marL="0">
              <a:buNone/>
            </a:pPr>
            <a:r>
              <a:rPr lang="en-US" sz="1100" b="1" dirty="0">
                <a:solidFill>
                  <a:srgbClr val="FFFFFF"/>
                </a:solidFill>
              </a:rPr>
              <a:t>VERIFIED</a:t>
            </a:r>
            <a:endParaRPr lang="en-US" sz="1100" dirty="0"/>
          </a:p>
        </p:txBody>
      </p:sp>
      <p:sp>
        <p:nvSpPr>
          <p:cNvPr id="15" name="Text 11"/>
          <p:cNvSpPr txBox="1"/>
          <p:nvPr/>
        </p:nvSpPr>
        <p:spPr>
          <a:xfrm>
            <a:off x="3429000" y="1920240"/>
            <a:ext cx="2377440" cy="548640"/>
          </a:xfrm>
          <a:prstGeom prst="rect">
            <a:avLst/>
          </a:prstGeom>
          <a:noFill/>
          <a:ln/>
        </p:spPr>
        <p:txBody>
          <a:bodyPr wrap="square" lIns="0" tIns="0" rIns="0" bIns="0" rtlCol="0" anchor="t"/>
          <a:lstStyle/>
          <a:p>
            <a:pPr indent="0" marL="0">
              <a:buNone/>
            </a:pPr>
            <a:r>
              <a:rPr lang="en-US" sz="1300" dirty="0">
                <a:solidFill>
                  <a:srgbClr val="1B1F2A"/>
                </a:solidFill>
              </a:rPr>
              <a:t>Rule 510: /bin/w trojaned</a:t>
            </a:r>
            <a:endParaRPr lang="en-US" sz="1300" dirty="0"/>
          </a:p>
        </p:txBody>
      </p:sp>
      <p:pic>
        <p:nvPicPr>
          <p:cNvPr id="16" name="figPB-62" descr="Screenshot PB-62">    </p:cNvPr>
          <p:cNvPicPr>
            <a:picLocks noChangeAspect="1"/>
          </p:cNvPicPr>
          <p:nvPr/>
        </p:nvPicPr>
        <p:blipFill>
          <a:blip r:embed="rId2"/>
          <a:stretch>
            <a:fillRect/>
          </a:stretch>
        </p:blipFill>
        <p:spPr>
          <a:xfrm>
            <a:off x="3895110" y="2560320"/>
            <a:ext cx="1445219" cy="1554480"/>
          </a:xfrm>
          <a:prstGeom prst="rect">
            <a:avLst/>
          </a:prstGeom>
        </p:spPr>
      </p:pic>
      <p:sp>
        <p:nvSpPr>
          <p:cNvPr id="17" name="Text 12"/>
          <p:cNvSpPr txBox="1"/>
          <p:nvPr/>
        </p:nvSpPr>
        <p:spPr>
          <a:xfrm>
            <a:off x="3429000" y="4206240"/>
            <a:ext cx="2377440" cy="274320"/>
          </a:xfrm>
          <a:prstGeom prst="rect">
            <a:avLst/>
          </a:prstGeom>
          <a:noFill/>
          <a:ln/>
        </p:spPr>
        <p:txBody>
          <a:bodyPr wrap="square" lIns="0" tIns="0" rIns="0" bIns="0" rtlCol="0" anchor="ctr"/>
          <a:lstStyle/>
          <a:p>
            <a:pPr indent="0" marL="0">
              <a:buNone/>
            </a:pPr>
            <a:r>
              <a:rPr lang="en-US" sz="1000" dirty="0">
                <a:solidFill>
                  <a:srgbClr val="595959"/>
                </a:solidFill>
              </a:rPr>
              <a:t>Figure PB-62</a:t>
            </a:r>
            <a:endParaRPr lang="en-US" sz="1000" dirty="0"/>
          </a:p>
        </p:txBody>
      </p:sp>
      <p:sp>
        <p:nvSpPr>
          <p:cNvPr id="18" name="det2"/>
          <p:cNvSpPr/>
          <p:nvPr/>
        </p:nvSpPr>
        <p:spPr>
          <a:xfrm>
            <a:off x="6126480" y="1051560"/>
            <a:ext cx="2651760" cy="3520440"/>
          </a:xfrm>
          <a:prstGeom prst="roundRect">
            <a:avLst>
              <a:gd name="adj" fmla="val 3448"/>
            </a:avLst>
          </a:prstGeom>
          <a:solidFill>
            <a:srgbClr val="EEF2F8"/>
          </a:solidFill>
          <a:ln w="12700">
            <a:solidFill>
              <a:srgbClr val="EEF2F8"/>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6263640" y="1143000"/>
            <a:ext cx="2377440" cy="365760"/>
          </a:xfrm>
          <a:prstGeom prst="rect">
            <a:avLst/>
          </a:prstGeom>
          <a:noFill/>
          <a:ln/>
        </p:spPr>
        <p:txBody>
          <a:bodyPr wrap="square" lIns="0" tIns="0" rIns="0" bIns="0" rtlCol="0" anchor="ctr"/>
          <a:lstStyle/>
          <a:p>
            <a:pPr indent="0" marL="0">
              <a:buNone/>
            </a:pPr>
            <a:r>
              <a:rPr lang="en-US" sz="1600" b="1" dirty="0">
                <a:solidFill>
                  <a:srgbClr val="1F3864"/>
                </a:solidFill>
              </a:rPr>
              <a:t>Shellshock</a:t>
            </a:r>
            <a:endParaRPr lang="en-US" sz="1600" dirty="0"/>
          </a:p>
        </p:txBody>
      </p:sp>
      <p:sp>
        <p:nvSpPr>
          <p:cNvPr id="20" name="chip VERIFIED"/>
          <p:cNvSpPr/>
          <p:nvPr/>
        </p:nvSpPr>
        <p:spPr>
          <a:xfrm>
            <a:off x="6263640" y="1554480"/>
            <a:ext cx="1005840" cy="274320"/>
          </a:xfrm>
          <a:prstGeom prst="roundRect">
            <a:avLst>
              <a:gd name="adj" fmla="val 26667"/>
            </a:avLst>
          </a:prstGeom>
          <a:solidFill>
            <a:srgbClr val="2E7D32"/>
          </a:solidFill>
          <a:ln w="12700">
            <a:solidFill>
              <a:srgbClr val="2E7D32"/>
            </a:solidFill>
            <a:prstDash val="solid"/>
          </a:ln>
        </p:spPr>
      </p:sp>
      <p:sp>
        <p:nvSpPr>
          <p:cNvPr id="21" name="Text 16"/>
          <p:cNvSpPr txBox="1"/>
          <p:nvPr/>
        </p:nvSpPr>
        <p:spPr>
          <a:xfrm>
            <a:off x="6263640" y="1554480"/>
            <a:ext cx="1005840" cy="274320"/>
          </a:xfrm>
          <a:prstGeom prst="rect">
            <a:avLst/>
          </a:prstGeom>
          <a:noFill/>
          <a:ln/>
        </p:spPr>
        <p:txBody>
          <a:bodyPr wrap="square" lIns="0" tIns="0" rIns="0" bIns="0" rtlCol="0" anchor="ctr"/>
          <a:lstStyle/>
          <a:p>
            <a:pPr algn="ctr" indent="0" marL="0">
              <a:buNone/>
            </a:pPr>
            <a:r>
              <a:rPr lang="en-US" sz="1100" b="1" dirty="0">
                <a:solidFill>
                  <a:srgbClr val="FFFFFF"/>
                </a:solidFill>
              </a:rPr>
              <a:t>VERIFIED</a:t>
            </a:r>
            <a:endParaRPr lang="en-US" sz="1100" dirty="0"/>
          </a:p>
        </p:txBody>
      </p:sp>
      <p:sp>
        <p:nvSpPr>
          <p:cNvPr id="22" name="Text 17"/>
          <p:cNvSpPr txBox="1"/>
          <p:nvPr/>
        </p:nvSpPr>
        <p:spPr>
          <a:xfrm>
            <a:off x="6263640" y="1920240"/>
            <a:ext cx="2377440" cy="548640"/>
          </a:xfrm>
          <a:prstGeom prst="rect">
            <a:avLst/>
          </a:prstGeom>
          <a:noFill/>
          <a:ln/>
        </p:spPr>
        <p:txBody>
          <a:bodyPr wrap="square" lIns="0" tIns="0" rIns="0" bIns="0" rtlCol="0" anchor="t"/>
          <a:lstStyle/>
          <a:p>
            <a:pPr indent="0" marL="0">
              <a:buNone/>
            </a:pPr>
            <a:r>
              <a:rPr lang="en-US" sz="1300" dirty="0">
                <a:solidFill>
                  <a:srgbClr val="1B1F2A"/>
                </a:solidFill>
              </a:rPr>
              <a:t>Rule 31168, level 15; attempt only</a:t>
            </a:r>
            <a:endParaRPr lang="en-US" sz="1300" dirty="0"/>
          </a:p>
        </p:txBody>
      </p:sp>
      <p:pic>
        <p:nvPicPr>
          <p:cNvPr id="23" name="figPB-80" descr="Screenshot PB-80">    </p:cNvPr>
          <p:cNvPicPr>
            <a:picLocks noChangeAspect="1"/>
          </p:cNvPicPr>
          <p:nvPr/>
        </p:nvPicPr>
        <p:blipFill>
          <a:blip r:embed="rId3"/>
          <a:stretch>
            <a:fillRect/>
          </a:stretch>
        </p:blipFill>
        <p:spPr>
          <a:xfrm>
            <a:off x="6669588" y="2560320"/>
            <a:ext cx="1565544" cy="1554480"/>
          </a:xfrm>
          <a:prstGeom prst="rect">
            <a:avLst/>
          </a:prstGeom>
        </p:spPr>
      </p:pic>
      <p:sp>
        <p:nvSpPr>
          <p:cNvPr id="24" name="Text 18"/>
          <p:cNvSpPr txBox="1"/>
          <p:nvPr/>
        </p:nvSpPr>
        <p:spPr>
          <a:xfrm>
            <a:off x="6263640" y="4206240"/>
            <a:ext cx="2377440" cy="274320"/>
          </a:xfrm>
          <a:prstGeom prst="rect">
            <a:avLst/>
          </a:prstGeom>
          <a:noFill/>
          <a:ln/>
        </p:spPr>
        <p:txBody>
          <a:bodyPr wrap="square" lIns="0" tIns="0" rIns="0" bIns="0" rtlCol="0" anchor="ctr"/>
          <a:lstStyle/>
          <a:p>
            <a:pPr indent="0" marL="0">
              <a:buNone/>
            </a:pPr>
            <a:r>
              <a:rPr lang="en-US" sz="1000" dirty="0">
                <a:solidFill>
                  <a:srgbClr val="595959"/>
                </a:solidFill>
              </a:rPr>
              <a:t>Figure PB-80</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Response and escalation</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023360"/>
                <a:gridCol w="2743200"/>
                <a:gridCol w="146304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Escalate to</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F3864"/>
                    </a:solidFill>
                  </a:tcPr>
                </a:tc>
              </a:tr>
              <a:tr h="50292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Confirm whether the Email 2 invoice was paid</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Finance director, bank fraud desk</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Immediately</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50292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Check clicks, credentials and sign-ins; block domains and IPs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Identity admin, incident response</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Same day</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50292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Get originals; redo SPF, DKIM, DMARC; hash attachments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Mail admin, threat intel lead</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This week</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50292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Show the YARA match; restore /usr/bin/w; test Shellshock</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Detection engineering</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This week</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r h="50292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DMARC, call-back for bank changes, MFA, training</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Security and finance leads</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Longer term</a:t>
                      </a:r>
                      <a:endParaRPr lang="en-US" sz="1300" dirty="0">
                        <a:latin typeface="Calibri" charset="0"/>
                        <a:ea typeface="Calibri" charset="0"/>
                        <a:cs typeface="Calibri" charset="0"/>
                      </a:endParaRPr>
                    </a:p>
                  </a:txBody>
                  <a:tcPr marL="91440" marR="91440" marT="45720" marB="45720"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57200"/>
            <a:ext cx="78638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 and gaps</a:t>
            </a:r>
            <a:endParaRPr lang="en-US" sz="3400" dirty="0"/>
          </a:p>
        </p:txBody>
      </p:sp>
      <p:sp>
        <p:nvSpPr>
          <p:cNvPr id="3" name="Text 1"/>
          <p:cNvSpPr txBox="1"/>
          <p:nvPr/>
        </p:nvSpPr>
        <p:spPr>
          <a:xfrm>
            <a:off x="640080" y="1371600"/>
            <a:ext cx="7863840" cy="16459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Four deliberate social-engineering attempts; none shown to have succeeded</a:t>
            </a:r>
            <a:endParaRPr lang="en-US" sz="1800" dirty="0"/>
          </a:p>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Wazuh detected file changes, a trojaned binary and a Shellshock string</a:t>
            </a:r>
            <a:endParaRPr lang="en-US" sz="1800" dirty="0"/>
          </a:p>
          <a:p>
            <a:pPr marL="342900" indent="-342900">
              <a:spcAft>
                <a:spcPts val="600"/>
              </a:spcAft>
              <a:buSzPct val="100000"/>
              <a:buChar char="•"/>
            </a:pPr>
            <a:r>
              <a:rPr lang="en-US" sz="1800" dirty="0">
                <a:solidFill>
                  <a:srgbClr val="FFFFFF"/>
                </a:solidFill>
                <a:latin typeface="Calibri" pitchFamily="34" charset="0"/>
                <a:ea typeface="Calibri" pitchFamily="34" charset="-122"/>
                <a:cs typeface="Calibri" pitchFamily="34" charset="-120"/>
              </a:rPr>
              <a:t>First step: confirm the Email 2 payment position</a:t>
            </a:r>
            <a:endParaRPr lang="en-US" sz="1800" dirty="0"/>
          </a:p>
        </p:txBody>
      </p:sp>
      <p:sp>
        <p:nvSpPr>
          <p:cNvPr id="4" name="Text 2"/>
          <p:cNvSpPr txBox="1"/>
          <p:nvPr/>
        </p:nvSpPr>
        <p:spPr>
          <a:xfrm>
            <a:off x="640080" y="3154680"/>
            <a:ext cx="3657600" cy="320040"/>
          </a:xfrm>
          <a:prstGeom prst="rect">
            <a:avLst/>
          </a:prstGeom>
          <a:noFill/>
          <a:ln/>
        </p:spPr>
        <p:txBody>
          <a:bodyPr wrap="square" lIns="0" tIns="0" rIns="0" bIns="0" rtlCol="0" anchor="ctr"/>
          <a:lstStyle/>
          <a:p>
            <a:pPr indent="0" marL="0">
              <a:buNone/>
            </a:pPr>
            <a:r>
              <a:rPr lang="en-US" sz="1600" b="1" dirty="0">
                <a:solidFill>
                  <a:srgbClr val="B8C4E0"/>
                </a:solidFill>
              </a:rPr>
              <a:t>Gaps to close</a:t>
            </a:r>
            <a:endParaRPr lang="en-US" sz="1600" dirty="0"/>
          </a:p>
        </p:txBody>
      </p:sp>
      <p:sp>
        <p:nvSpPr>
          <p:cNvPr id="5" name="Text 3"/>
          <p:cNvSpPr txBox="1"/>
          <p:nvPr/>
        </p:nvSpPr>
        <p:spPr>
          <a:xfrm>
            <a:off x="640080" y="3520440"/>
            <a:ext cx="7863840" cy="640080"/>
          </a:xfrm>
          <a:prstGeom prst="rect">
            <a:avLst/>
          </a:prstGeom>
          <a:noFill/>
          <a:ln/>
        </p:spPr>
        <p:txBody>
          <a:bodyPr wrap="square" lIns="0" tIns="0" rIns="0" bIns="0" rtlCol="0" anchor="t"/>
          <a:lstStyle/>
          <a:p>
            <a:pPr indent="0" marL="0">
              <a:buNone/>
            </a:pPr>
            <a:r>
              <a:rPr lang="en-US" sz="1400" dirty="0">
                <a:solidFill>
                  <a:srgbClr val="FFFFFF"/>
                </a:solidFill>
              </a:rPr>
              <a:t>Original .eml files and attachments  |  domain reputation  |  user interaction records  |  YARA scan result  |  lab restoration</a:t>
            </a:r>
            <a:endParaRPr lang="en-US" sz="1400" dirty="0"/>
          </a:p>
        </p:txBody>
      </p:sp>
      <p:sp>
        <p:nvSpPr>
          <p:cNvPr id="6" name="Text 4"/>
          <p:cNvSpPr txBox="1"/>
          <p:nvPr/>
        </p:nvSpPr>
        <p:spPr>
          <a:xfrm>
            <a:off x="640080" y="4434840"/>
            <a:ext cx="5486400" cy="274320"/>
          </a:xfrm>
          <a:prstGeom prst="rect">
            <a:avLst/>
          </a:prstGeom>
          <a:noFill/>
          <a:ln/>
        </p:spPr>
        <p:txBody>
          <a:bodyPr wrap="square" lIns="0" tIns="0" rIns="0" bIns="0" rtlCol="0" anchor="ctr"/>
          <a:lstStyle/>
          <a:p>
            <a:pPr indent="0" marL="0">
              <a:buNone/>
            </a:pPr>
            <a:r>
              <a:rPr lang="en-US" sz="1200" dirty="0">
                <a:solidFill>
                  <a:srgbClr val="B8C4E0"/>
                </a:solidFill>
              </a:rPr>
              <a:t>Faith Ejele, SOC Analyst  |  10alytics, 2026</a:t>
            </a:r>
            <a:endParaRPr lang="en-US" sz="1200" dirty="0"/>
          </a:p>
        </p:txBody>
      </p:sp>
    </p:spTree>
  </p:cSld>
  <p:clrMapOvr>
    <a:masterClrMapping/>
  </p:clrMapOvr>
</p:sld>
</file>

<file path=ppt/theme/theme1.xml><?xml version="1.0" encoding="utf-8"?>
<a:theme xmlns:a="http://schemas.openxmlformats.org/drawingml/2006/main" name="SOC Navy">
  <a:themeElements>
    <a:clrScheme name="SOC Navy">
      <a:dk1>
        <a:srgbClr val="1B1F2A"/>
      </a:dk1>
      <a:lt1>
        <a:srgbClr val="FFFFFF"/>
      </a:lt1>
      <a:dk2>
        <a:srgbClr val="1F3864"/>
      </a:dk2>
      <a:lt2>
        <a:srgbClr val="EEF2F8"/>
      </a:lt2>
      <a:accent1>
        <a:srgbClr val="2F5496"/>
      </a:accent1>
      <a:accent2>
        <a:srgbClr val="C00000"/>
      </a:accent2>
      <a:accent3>
        <a:srgbClr val="E69F00"/>
      </a:accent3>
      <a:accent4>
        <a:srgbClr val="2E7D32"/>
      </a:accent4>
      <a:accent5>
        <a:srgbClr val="5B6B8C"/>
      </a:accent5>
      <a:accent6>
        <a:srgbClr val="7F7F7F"/>
      </a:accent6>
      <a:hlink>
        <a:srgbClr val="2F5496"/>
      </a:hlink>
      <a:folHlink>
        <a:srgbClr val="5B6B8C"/>
      </a:folHlink>
    </a:clrScheme>
    <a:fontScheme name="SOC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Intelligence Capstone Project - Harmony Health Threat Investigation</dc:title>
  <dc:subject>PptxGenJS Presentation</dc:subject>
  <dc:creator>Faith Ejele</dc:creator>
  <cp:lastModifiedBy>Faith Ejele</cp:lastModifiedBy>
  <cp:revision>1</cp:revision>
  <dcterms:created xsi:type="dcterms:W3CDTF">2026-10-27T01:22:26Z</dcterms:created>
  <dcterms:modified xsi:type="dcterms:W3CDTF">2026-10-27T01:22:26Z</dcterms:modified>
</cp:coreProperties>
</file>